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4E5B24-02F6-0A1F-A386-DA75A5E26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586C71-0867-8F81-9641-4987E79B8B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D7B863-E60E-E592-D091-C4666EA96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75055-E2CD-4DB0-A18B-92FCC1F9E75A}" type="datetimeFigureOut">
              <a:rPr lang="pt-BR" smtClean="0"/>
              <a:t>22/05/2026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EF300A-6655-9627-48CA-695C00940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351FB2-F294-F2A1-1C03-FD4857F16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F8BC1-6798-4FF4-9AE6-7B4444F6F2E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7671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753DCE-1746-58CA-ADF1-99F6658B9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20F793-8EB0-12C3-1130-D3124FA3F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FE802F-1DDC-A8F0-C6D6-00EBF958C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75055-E2CD-4DB0-A18B-92FCC1F9E75A}" type="datetimeFigureOut">
              <a:rPr lang="pt-BR" smtClean="0"/>
              <a:t>22/05/2026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DD5261-1631-7FA7-0EE1-C084C4CD0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A82301-A74C-36CF-7F45-4EBEF5F89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F8BC1-6798-4FF4-9AE6-7B4444F6F2E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2891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44FA5C-15E1-B49C-A20B-229EA10D8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7B8207-112A-079E-103E-D4FB3CA6E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5AB54D-07F5-DEE4-4CFE-80AFCDFFB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75055-E2CD-4DB0-A18B-92FCC1F9E75A}" type="datetimeFigureOut">
              <a:rPr lang="pt-BR" smtClean="0"/>
              <a:t>22/05/2026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74B580-980A-19F0-3ABF-4EEEB5475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1DA23D-973C-2E5E-5C7D-E12B5A2A8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F8BC1-6798-4FF4-9AE6-7B4444F6F2E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507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92D304-C6B8-352E-9FC6-81FBA0EC0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B47654-6CB9-751C-1899-D488350BB7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AE57F7E-01F5-7453-09D2-CF74AF6BB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CAA699-BF8F-9ED3-382C-C0145510E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75055-E2CD-4DB0-A18B-92FCC1F9E75A}" type="datetimeFigureOut">
              <a:rPr lang="pt-BR" smtClean="0"/>
              <a:t>22/05/2026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73BB971-7D68-12DF-3135-3920CB6BF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F6D76B9-01C1-ECD9-723E-0813153FD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F8BC1-6798-4FF4-9AE6-7B4444F6F2E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6583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9FA37E-4A56-C93C-9F84-9D6E948C4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D1A254-61BF-9ED3-F3D8-88AB17A96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5701225-D758-29D8-2C78-72C3A799F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247879-C6D7-1705-63AF-17EC082FC2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ED0645D-08A2-C61E-6C52-0FA1C81F77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6C0447C-6103-CB81-5145-B8F086AA2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75055-E2CD-4DB0-A18B-92FCC1F9E75A}" type="datetimeFigureOut">
              <a:rPr lang="pt-BR" smtClean="0"/>
              <a:t>22/05/2026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4734EA4-ACEB-8069-2814-3868CC4FF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E08B02F-9C8B-2172-9A6C-9D89E4AAE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F8BC1-6798-4FF4-9AE6-7B4444F6F2E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2641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35B07F-AEE9-AE92-8E03-447FB135F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4A56085-E23D-13DC-9751-0917F6E6F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75055-E2CD-4DB0-A18B-92FCC1F9E75A}" type="datetimeFigureOut">
              <a:rPr lang="pt-BR" smtClean="0"/>
              <a:t>22/05/2026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9F150F0-7E4A-AD89-0EF1-D3512AF38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C620757-ACCF-F5DF-A8AF-BE5C7CB74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F8BC1-6798-4FF4-9AE6-7B4444F6F2E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86943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24401F1-5773-99F1-2B40-D8632276B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75055-E2CD-4DB0-A18B-92FCC1F9E75A}" type="datetimeFigureOut">
              <a:rPr lang="pt-BR" smtClean="0"/>
              <a:t>22/05/2026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796ADB9-4A80-9B9E-BEE5-FB5AE5CF4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E3C132-1FA2-A353-B588-8D425EC93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F8BC1-6798-4FF4-9AE6-7B4444F6F2E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7100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1DA043-8376-3A51-B520-AAC6FDC5E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98A4BE-45F2-389E-809F-F44665F88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41A7A6B-FDA7-A58F-9A55-E4745BFDD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93B03A-25A7-AC88-A940-868CED84D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75055-E2CD-4DB0-A18B-92FCC1F9E75A}" type="datetimeFigureOut">
              <a:rPr lang="pt-BR" smtClean="0"/>
              <a:t>22/05/2026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D1AAAE3-5FAE-64E5-D3CF-2E9987D49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3CCA3E3-726A-0357-260B-991D9FA97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F8BC1-6798-4FF4-9AE6-7B4444F6F2E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7299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66D8E-EA35-559B-99EC-93E16CFA5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91782FE-C0AE-3A15-9281-FA87CFF103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E67CABD-CDF4-031E-F4FB-4FD1E9D6BF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04BD8F-F7CF-470E-455B-7008067CD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75055-E2CD-4DB0-A18B-92FCC1F9E75A}" type="datetimeFigureOut">
              <a:rPr lang="pt-BR" smtClean="0"/>
              <a:t>22/05/2026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9B23F0A-3468-32D9-3A52-794FE9369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5E538E2-1E07-16D8-4FAD-5159659FE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F8BC1-6798-4FF4-9AE6-7B4444F6F2E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4402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2F0B19-91E2-17D8-9FCD-C4D3425A7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E9232A-4039-9EE5-B4B7-C0740CBC8B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5AA77B-0093-B61A-AE7F-E7CA0FE0F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75055-E2CD-4DB0-A18B-92FCC1F9E75A}" type="datetimeFigureOut">
              <a:rPr lang="pt-BR" smtClean="0"/>
              <a:t>22/05/2026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1C7202-582B-727A-88F7-3E9BDDDFF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939932-9C52-4445-A305-F41C1DF90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F8BC1-6798-4FF4-9AE6-7B4444F6F2E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65800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8535BD1-EB7C-6F20-3887-CD7D8F2C5B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61E319F-629D-249E-1FE5-A7D34E720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18096C-F060-9E54-F019-31F54CEAF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75055-E2CD-4DB0-A18B-92FCC1F9E75A}" type="datetimeFigureOut">
              <a:rPr lang="pt-BR" smtClean="0"/>
              <a:t>22/05/2026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F92321-5F1C-607D-C1ED-641711796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E3C43B-C7B4-54A6-E7D4-CC14F3CFC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F8BC1-6798-4FF4-9AE6-7B4444F6F2E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1713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C951F92-DF0B-4172-F7B4-702F2A7AD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4A211DF-B36F-F33E-6F67-05C373D0B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CFD154-FEDF-0647-3B97-A4EE000F54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775055-E2CD-4DB0-A18B-92FCC1F9E75A}" type="datetimeFigureOut">
              <a:rPr lang="pt-BR" smtClean="0"/>
              <a:t>22/05/2026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98B4EF-7517-510C-26E4-00014D210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4D2F5A-8288-B820-50BF-861428576E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1F8BC1-6798-4FF4-9AE6-7B4444F6F2E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59838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8.png"/><Relationship Id="rId7" Type="http://schemas.openxmlformats.org/officeDocument/2006/relationships/image" Target="../media/image4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4.png"/><Relationship Id="rId7" Type="http://schemas.openxmlformats.org/officeDocument/2006/relationships/image" Target="../media/image87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78.png"/><Relationship Id="rId10" Type="http://schemas.openxmlformats.org/officeDocument/2006/relationships/image" Target="../media/image90.png"/><Relationship Id="rId4" Type="http://schemas.openxmlformats.org/officeDocument/2006/relationships/image" Target="../media/image85.png"/><Relationship Id="rId9" Type="http://schemas.openxmlformats.org/officeDocument/2006/relationships/image" Target="../media/image8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3C6751-7BFD-43F5-AB65-0327914B19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Contextualização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C29856-E9B8-ADA6-CAE4-E7A80ECF93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Código do sensor AD5933 conectado com ESP32 via I2C</a:t>
            </a:r>
          </a:p>
        </p:txBody>
      </p:sp>
    </p:spTree>
    <p:extLst>
      <p:ext uri="{BB962C8B-B14F-4D97-AF65-F5344CB8AC3E}">
        <p14:creationId xmlns:p14="http://schemas.microsoft.com/office/powerpoint/2010/main" val="1998190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91A67A-6C7E-19A0-6BB5-88D9C8C88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37" y="383980"/>
            <a:ext cx="10515600" cy="1246858"/>
          </a:xfrm>
        </p:spPr>
        <p:txBody>
          <a:bodyPr/>
          <a:lstStyle/>
          <a:p>
            <a:r>
              <a:rPr lang="pt-B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Função resetI2C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F5F7BCDB-91B8-E561-DBC1-D07F4368D7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237" y="1506022"/>
            <a:ext cx="2295845" cy="1552792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D07835A-604D-BB11-03B6-A348A1FB8BD3}"/>
              </a:ext>
            </a:extLst>
          </p:cNvPr>
          <p:cNvSpPr txBox="1"/>
          <p:nvPr/>
        </p:nvSpPr>
        <p:spPr>
          <a:xfrm>
            <a:off x="3134045" y="1506022"/>
            <a:ext cx="8762999" cy="437042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000" dirty="0"/>
              <a:t>A função resetI2C() serve para </a:t>
            </a:r>
            <a:r>
              <a:rPr lang="pt-BR" sz="1000" b="1" dirty="0"/>
              <a:t>reiniciar e reconfigurar o barramento de comunicação I2C</a:t>
            </a:r>
            <a:r>
              <a:rPr lang="pt-BR" sz="1000" dirty="0"/>
              <a:t> do microcontrolador (geralmente um ESP32, devido aos pinos utilizados) com o chip AD5933. </a:t>
            </a:r>
          </a:p>
          <a:p>
            <a:r>
              <a:rPr lang="pt-BR" sz="1000" dirty="0"/>
              <a:t>Em projetos eletrônicos, ruídos na linha de comunicação ou picos de energia podem fazer com que o barramento I2C trave. Essa função limpa o estado anterior e garante uma comunicação limpa e rápida.</a:t>
            </a:r>
          </a:p>
          <a:p>
            <a:endParaRPr lang="pt-BR" sz="1000" dirty="0"/>
          </a:p>
          <a:p>
            <a:r>
              <a:rPr lang="pt-BR" sz="1000" b="1" dirty="0"/>
              <a:t>1. Wire.end();</a:t>
            </a:r>
            <a:endParaRPr lang="pt-BR" sz="1000" dirty="0"/>
          </a:p>
          <a:p>
            <a:r>
              <a:rPr lang="pt-BR" sz="1000" dirty="0"/>
              <a:t>Finaliza e desativa o barramento I2C atual. Ela libera os pinos do microcontrolador que estavam sendo usados para essa comunicação, interrompendo qualquer estado de travamento ou erro que estivesse ocorrendo na linha. </a:t>
            </a:r>
          </a:p>
          <a:p>
            <a:endParaRPr lang="pt-BR" sz="1000" dirty="0"/>
          </a:p>
          <a:p>
            <a:r>
              <a:rPr lang="pt-BR" sz="1000" b="1" dirty="0"/>
              <a:t>2. delay(100);</a:t>
            </a:r>
            <a:endParaRPr lang="pt-BR" sz="1000" dirty="0"/>
          </a:p>
          <a:p>
            <a:r>
              <a:rPr lang="pt-BR" sz="1000" dirty="0"/>
              <a:t>Gera uma pausa de </a:t>
            </a:r>
            <a:r>
              <a:rPr lang="pt-BR" sz="1000" b="1" dirty="0"/>
              <a:t>100 milissegundos</a:t>
            </a:r>
            <a:r>
              <a:rPr lang="pt-BR" sz="1000" dirty="0"/>
              <a:t>. Esse tempo é crucial para dar estabilidade elétrica ao circuito, garantindo que as linhas de dados (SDA) e clock (SCL) voltem totalmente ao estado de repouso antes de serem reiniciadas. </a:t>
            </a:r>
          </a:p>
          <a:p>
            <a:endParaRPr lang="pt-BR" sz="1000" dirty="0"/>
          </a:p>
          <a:p>
            <a:r>
              <a:rPr lang="pt-BR" sz="1000" b="1" dirty="0"/>
              <a:t>3. Wire.begin(21, 22);</a:t>
            </a:r>
            <a:endParaRPr lang="pt-BR" sz="1000" dirty="0"/>
          </a:p>
          <a:p>
            <a:r>
              <a:rPr lang="pt-BR" sz="1000" dirty="0"/>
              <a:t>Inicia o barramento I2C novamente, mas definindo pinos específicos para a comunicação: </a:t>
            </a:r>
          </a:p>
          <a:p>
            <a:pPr lvl="0"/>
            <a:r>
              <a:rPr lang="pt-BR" sz="1000" b="1" dirty="0"/>
              <a:t>Pino 21:</a:t>
            </a:r>
            <a:r>
              <a:rPr lang="pt-BR" sz="1000" dirty="0"/>
              <a:t> Configurado como a linha </a:t>
            </a:r>
            <a:r>
              <a:rPr lang="pt-BR" sz="1000" b="1" dirty="0"/>
              <a:t>SDA</a:t>
            </a:r>
            <a:r>
              <a:rPr lang="pt-BR" sz="1000" dirty="0"/>
              <a:t> (Data / Dados).</a:t>
            </a:r>
          </a:p>
          <a:p>
            <a:pPr lvl="0"/>
            <a:r>
              <a:rPr lang="pt-BR" sz="1000" b="1" dirty="0"/>
              <a:t>Pino 22:</a:t>
            </a:r>
            <a:r>
              <a:rPr lang="pt-BR" sz="1000" dirty="0"/>
              <a:t> Configurado como a linha </a:t>
            </a:r>
            <a:r>
              <a:rPr lang="pt-BR" sz="1000" b="1" dirty="0"/>
              <a:t>SCL</a:t>
            </a:r>
            <a:r>
              <a:rPr lang="pt-BR" sz="1000" dirty="0"/>
              <a:t> (Clock / Relógio).</a:t>
            </a:r>
          </a:p>
          <a:p>
            <a:r>
              <a:rPr lang="pt-BR" sz="1000" i="1" dirty="0"/>
              <a:t>(Essa pinagem é o padrão muito comum em placas de desenvolvimento ESP32).</a:t>
            </a:r>
          </a:p>
          <a:p>
            <a:endParaRPr lang="pt-BR" sz="1000" dirty="0"/>
          </a:p>
          <a:p>
            <a:r>
              <a:rPr lang="pt-BR" sz="1000" b="1" dirty="0"/>
              <a:t>4. Wire.setClock(400000);</a:t>
            </a:r>
            <a:endParaRPr lang="pt-BR" sz="1000" dirty="0"/>
          </a:p>
          <a:p>
            <a:r>
              <a:rPr lang="pt-BR" sz="1000" dirty="0"/>
              <a:t>Define a velocidade de transmissão do barramento I2C para </a:t>
            </a:r>
            <a:r>
              <a:rPr lang="pt-BR" sz="1000" b="1" dirty="0"/>
              <a:t>400 kHz</a:t>
            </a:r>
            <a:r>
              <a:rPr lang="pt-BR" sz="1000" dirty="0"/>
              <a:t> ($400.000Hz). Este modo é conhecido como </a:t>
            </a:r>
            <a:r>
              <a:rPr lang="pt-BR" sz="1000" b="1" dirty="0"/>
              <a:t>Fast Mode</a:t>
            </a:r>
            <a:r>
              <a:rPr lang="pt-BR" sz="1000" dirty="0"/>
              <a:t> (Modo Rápido). O AD5933 suporta essa velocidade, permitindo que a leitura dos registradores de impedância seja feita de forma mais ágil do que no modo padrão (de 100 kHz). </a:t>
            </a:r>
          </a:p>
          <a:p>
            <a:endParaRPr lang="pt-BR" sz="1000" dirty="0"/>
          </a:p>
          <a:p>
            <a:r>
              <a:rPr lang="pt-BR" sz="1000" b="1" dirty="0"/>
              <a:t>5. delay(200);</a:t>
            </a:r>
            <a:endParaRPr lang="pt-BR" sz="1000" dirty="0"/>
          </a:p>
          <a:p>
            <a:r>
              <a:rPr lang="pt-BR" sz="1000" dirty="0"/>
              <a:t>Uma última pausa de </a:t>
            </a:r>
            <a:r>
              <a:rPr lang="pt-BR" sz="1000" b="1" dirty="0"/>
              <a:t>200 milissegundos</a:t>
            </a:r>
            <a:r>
              <a:rPr lang="pt-BR" sz="1000" dirty="0"/>
              <a:t>. Ela serve para garantir que o barramento recém-iniciado esteja totalmente estável e pronto para receber os comandos de configuração que o código enviará logo em seguida no setup().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19241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6F5D1-5B33-3E46-0930-438820589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3D21D6-2E9B-F9F4-F92F-9697C7CD0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3" y="421687"/>
            <a:ext cx="10515600" cy="1246858"/>
          </a:xfrm>
        </p:spPr>
        <p:txBody>
          <a:bodyPr/>
          <a:lstStyle/>
          <a:p>
            <a:r>
              <a:rPr lang="pt-B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Função testAD5933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05343CA-3403-CB55-0A36-8C725819A060}"/>
              </a:ext>
            </a:extLst>
          </p:cNvPr>
          <p:cNvSpPr txBox="1"/>
          <p:nvPr/>
        </p:nvSpPr>
        <p:spPr>
          <a:xfrm>
            <a:off x="3233394" y="1397375"/>
            <a:ext cx="8663650" cy="267765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800" dirty="0"/>
              <a:t>A função testAD5933() serve para </a:t>
            </a:r>
            <a:r>
              <a:rPr lang="pt-BR" sz="800" b="1" dirty="0"/>
              <a:t>verificar se o chip AD5933 está conectado corretamente ao barramento I2C e respondendo aos comandos</a:t>
            </a:r>
            <a:r>
              <a:rPr lang="pt-BR" sz="800" dirty="0"/>
              <a:t> do microcontrolador. É uma espécie de "ping" de hardware para testar a comunicação antes de avançar para as leituras complexas. </a:t>
            </a:r>
          </a:p>
          <a:p>
            <a:r>
              <a:rPr lang="pt-BR" sz="800" dirty="0"/>
              <a:t> </a:t>
            </a:r>
          </a:p>
          <a:p>
            <a:r>
              <a:rPr lang="pt-BR" sz="800" b="1" dirty="0"/>
              <a:t>1. Wire.beginTransmission(AD5933_ADDR);</a:t>
            </a:r>
            <a:endParaRPr lang="pt-BR" sz="800" dirty="0"/>
          </a:p>
          <a:p>
            <a:r>
              <a:rPr lang="pt-BR" sz="800" dirty="0"/>
              <a:t>Esta linha inicia uma comunicação com um dispositivo específico no barramento I2C usando o endereço do AD5933 (definido no código como 0x0D). O microcontrolador envia um sinal de "Start" no barramento seguido por esse endereço para ver se o chip se manifesta. </a:t>
            </a:r>
          </a:p>
          <a:p>
            <a:r>
              <a:rPr lang="pt-BR" sz="800" dirty="0"/>
              <a:t> </a:t>
            </a:r>
          </a:p>
          <a:p>
            <a:r>
              <a:rPr lang="pt-BR" sz="800" b="1" dirty="0"/>
              <a:t>2. byte error = Wire.endTransmission();</a:t>
            </a:r>
            <a:endParaRPr lang="pt-BR" sz="800" dirty="0"/>
          </a:p>
          <a:p>
            <a:r>
              <a:rPr lang="pt-BR" sz="800" dirty="0"/>
              <a:t>Esta é a linha onde o teste realmente acontece. A função Wire.endTransmission() transmite os dados acumulados (neste caso, apenas o endereço) e fecha a comunicação. Ela retorna um código numérico que indica o status da transmissão: </a:t>
            </a:r>
          </a:p>
          <a:p>
            <a:pPr lvl="0"/>
            <a:r>
              <a:rPr lang="pt-BR" sz="800" dirty="0"/>
              <a:t>0: Sucesso. O dispositivo com o endereço 0x0D encontrou a mensagem e respondeu com um sinal de confirmação (ACK - </a:t>
            </a:r>
            <a:r>
              <a:rPr lang="pt-BR" sz="800" i="1" dirty="0"/>
              <a:t>Acknowledge</a:t>
            </a:r>
            <a:r>
              <a:rPr lang="pt-BR" sz="800" dirty="0"/>
              <a:t>).</a:t>
            </a:r>
          </a:p>
          <a:p>
            <a:pPr lvl="0"/>
            <a:r>
              <a:rPr lang="pt-BR" sz="800" dirty="0"/>
              <a:t>1: Buffer de dados muito longo para caber no limite de transmissão.</a:t>
            </a:r>
          </a:p>
          <a:p>
            <a:pPr lvl="0"/>
            <a:r>
              <a:rPr lang="pt-BR" sz="800" dirty="0"/>
              <a:t>2: Recebeu um NACK (não confirmação) ao enviar o endereço (significa que o chip não foi encontrado).</a:t>
            </a:r>
          </a:p>
          <a:p>
            <a:pPr lvl="0"/>
            <a:r>
              <a:rPr lang="pt-BR" sz="800" dirty="0"/>
              <a:t>3: Recebeu um NACK ao enviar dados.</a:t>
            </a:r>
          </a:p>
          <a:p>
            <a:pPr lvl="0"/>
            <a:r>
              <a:rPr lang="pt-BR" sz="800" dirty="0"/>
              <a:t>4: Outro erro de barramento.</a:t>
            </a:r>
          </a:p>
          <a:p>
            <a:r>
              <a:rPr lang="pt-BR" sz="800" dirty="0"/>
              <a:t>O resultado numérico desse teste é guardado na variável error. </a:t>
            </a:r>
          </a:p>
          <a:p>
            <a:r>
              <a:rPr lang="pt-BR" sz="800" dirty="0"/>
              <a:t> </a:t>
            </a:r>
          </a:p>
          <a:p>
            <a:r>
              <a:rPr lang="pt-BR" sz="800" b="1" dirty="0"/>
              <a:t>3. return error == 0;</a:t>
            </a:r>
            <a:endParaRPr lang="pt-BR" sz="800" dirty="0"/>
          </a:p>
          <a:p>
            <a:r>
              <a:rPr lang="pt-BR" sz="800" dirty="0"/>
              <a:t>A função retorna um valor booleano (true ou false): </a:t>
            </a:r>
          </a:p>
          <a:p>
            <a:pPr lvl="0"/>
            <a:r>
              <a:rPr lang="pt-BR" sz="800" dirty="0"/>
              <a:t>Se error for igual a 0, a expressão é verdadeira (true), significando que o AD5933 respondeu e a comunicação está funcionando. </a:t>
            </a:r>
          </a:p>
          <a:p>
            <a:r>
              <a:rPr lang="pt-BR" sz="800" dirty="0"/>
              <a:t>Se error for qualquer outro número, a expressão é falsa (false), indicando que o chip não foi encontrado, está mal conectado ou sem alimentação</a:t>
            </a:r>
          </a:p>
        </p:txBody>
      </p:sp>
      <p:pic>
        <p:nvPicPr>
          <p:cNvPr id="12" name="Espaço Reservado para Conteúdo 11">
            <a:extLst>
              <a:ext uri="{FF2B5EF4-FFF2-40B4-BE49-F238E27FC236}">
                <a16:creationId xmlns:a16="http://schemas.microsoft.com/office/drawing/2014/main" id="{1F9DD670-B0F1-A449-3389-6FA08DB614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956" y="1397375"/>
            <a:ext cx="2660884" cy="87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545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AF28A-607F-2223-9371-BC67F3FCB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4937EB-0EB1-7E7A-379E-915E0F5DF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3" y="421687"/>
            <a:ext cx="10515600" cy="1246858"/>
          </a:xfrm>
        </p:spPr>
        <p:txBody>
          <a:bodyPr/>
          <a:lstStyle/>
          <a:p>
            <a:r>
              <a:rPr lang="pt-B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Função writeReg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EF69C97-11F0-08E9-C1BF-2DC780822B14}"/>
              </a:ext>
            </a:extLst>
          </p:cNvPr>
          <p:cNvSpPr txBox="1"/>
          <p:nvPr/>
        </p:nvSpPr>
        <p:spPr>
          <a:xfrm>
            <a:off x="3233394" y="1510065"/>
            <a:ext cx="8663650" cy="292387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800" dirty="0"/>
              <a:t>A função writeReg(byte reg, byte val) é a função base de escrita do seu código. A função dela é </a:t>
            </a:r>
            <a:r>
              <a:rPr lang="pt-BR" sz="800" b="1" dirty="0"/>
              <a:t>gravar um único byte de informação (um dado ou uma configuração) em um registrador específico dentro do chip AD5933</a:t>
            </a:r>
            <a:r>
              <a:rPr lang="pt-BR" sz="800" dirty="0"/>
              <a:t>. </a:t>
            </a:r>
          </a:p>
          <a:p>
            <a:r>
              <a:rPr lang="pt-BR" sz="800" dirty="0"/>
              <a:t>Pense no AD5933 como um armário cheio de gavetas numeradas (os registradores). Para mudar o comportamento do chip, você precisa abrir uma gaveta específica e colocar uma instrução lá dentro. É exatamente isso que esta função faz via protocolo I2C. </a:t>
            </a:r>
          </a:p>
          <a:p>
            <a:r>
              <a:rPr lang="pt-BR" sz="800" dirty="0"/>
              <a:t> </a:t>
            </a:r>
          </a:p>
          <a:p>
            <a:r>
              <a:rPr lang="pt-BR" sz="800" b="1" dirty="0"/>
              <a:t>1. Wire.beginTransmission(AD5933_ADDR);</a:t>
            </a:r>
            <a:endParaRPr lang="pt-BR" sz="800" dirty="0"/>
          </a:p>
          <a:p>
            <a:r>
              <a:rPr lang="pt-BR" sz="800" dirty="0"/>
              <a:t>O microcontrolador assume o controle do barramento I2C e envia um sinal de "Atenção" direcionado especificamente para o endereço do AD5933 (0x0D). Isso avisa ao chip que uma operação de escrita vai começar. </a:t>
            </a:r>
          </a:p>
          <a:p>
            <a:endParaRPr lang="pt-BR" sz="800" dirty="0"/>
          </a:p>
          <a:p>
            <a:r>
              <a:rPr lang="pt-BR" sz="800" b="1" dirty="0"/>
              <a:t>2. Wire.write(reg);</a:t>
            </a:r>
            <a:endParaRPr lang="pt-BR" sz="800" dirty="0"/>
          </a:p>
          <a:p>
            <a:r>
              <a:rPr lang="pt-BR" sz="800" dirty="0"/>
              <a:t>O primeiro dado enviado após a abertura da transmissão é o </a:t>
            </a:r>
            <a:r>
              <a:rPr lang="pt-BR" sz="800" b="1" dirty="0"/>
              <a:t>endereço do registrador</a:t>
            </a:r>
            <a:r>
              <a:rPr lang="pt-BR" sz="800" dirty="0"/>
              <a:t> (a "gaveta" que queremos abrir). O AD5933 recebe esse valor e se prepara para modificar esse registrador específico. </a:t>
            </a:r>
          </a:p>
          <a:p>
            <a:endParaRPr lang="pt-BR" sz="800" dirty="0"/>
          </a:p>
          <a:p>
            <a:r>
              <a:rPr lang="pt-BR" sz="800" b="1" dirty="0"/>
              <a:t>3. Wire.write(val);</a:t>
            </a:r>
            <a:endParaRPr lang="pt-BR" sz="800" dirty="0"/>
          </a:p>
          <a:p>
            <a:r>
              <a:rPr lang="pt-BR" sz="800" dirty="0"/>
              <a:t>O segundo dado enviado é o </a:t>
            </a:r>
            <a:r>
              <a:rPr lang="pt-BR" sz="800" b="1" dirty="0"/>
              <a:t>valor ou comando</a:t>
            </a:r>
            <a:r>
              <a:rPr lang="pt-BR" sz="800" dirty="0"/>
              <a:t> real que você quer salvar dentro daquela gaveta. Pode ser uma configuração de ganho, um comando para iniciar uma leitura, ou parte de um cálculo de frequência. </a:t>
            </a:r>
          </a:p>
          <a:p>
            <a:endParaRPr lang="pt-BR" sz="800" dirty="0"/>
          </a:p>
          <a:p>
            <a:r>
              <a:rPr lang="pt-BR" sz="800" b="1" dirty="0"/>
              <a:t>4. Wire.endTransmission();</a:t>
            </a:r>
            <a:endParaRPr lang="pt-BR" sz="800" dirty="0"/>
          </a:p>
          <a:p>
            <a:r>
              <a:rPr lang="pt-BR" sz="800" dirty="0"/>
              <a:t>Finaliza a transmissão I2C. É o momento em que os dados são efetivamente processados e salvos pelo AD5933, fechando a comunicação e liberando a linha para outras tarefas. </a:t>
            </a:r>
          </a:p>
          <a:p>
            <a:r>
              <a:rPr lang="pt-BR" sz="800" b="1" dirty="0"/>
              <a:t>Exemplos de uso no seu código:</a:t>
            </a:r>
            <a:endParaRPr lang="pt-BR" sz="800" dirty="0"/>
          </a:p>
          <a:p>
            <a:r>
              <a:rPr lang="pt-BR" sz="800" dirty="0"/>
              <a:t>Esta função é usada como o "tijolo básico" para quase tudo o que o chip faz:</a:t>
            </a:r>
          </a:p>
          <a:p>
            <a:pPr lvl="0"/>
            <a:r>
              <a:rPr lang="pt-BR" sz="800" dirty="0"/>
              <a:t>No comando writeReg(0x80, 0x10);: Abre o registrador de controle (0x80) e coloca o valor 0x10 lá dentro para resetar o sweep. </a:t>
            </a:r>
          </a:p>
          <a:p>
            <a:pPr lvl="0"/>
            <a:r>
              <a:rPr lang="pt-BR" sz="800" dirty="0"/>
              <a:t>Na própria função writeReg24: Ela é chamada 3 vezes seguidas para gravar 3 bytes em sequência. 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24212ABF-3455-24ED-9B87-294C61B2A0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3993" y="1510065"/>
            <a:ext cx="2480036" cy="97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645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B75D9-9DD2-3441-690D-18021E529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9D5856-356C-0B47-B98F-AAB1ECBF3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3" y="421687"/>
            <a:ext cx="10515600" cy="1246858"/>
          </a:xfrm>
        </p:spPr>
        <p:txBody>
          <a:bodyPr/>
          <a:lstStyle/>
          <a:p>
            <a:r>
              <a:rPr lang="pt-B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Função writeReg24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D5F941A-F19A-F868-64F8-0D9677E88DEC}"/>
              </a:ext>
            </a:extLst>
          </p:cNvPr>
          <p:cNvSpPr txBox="1"/>
          <p:nvPr/>
        </p:nvSpPr>
        <p:spPr>
          <a:xfrm>
            <a:off x="3233394" y="1510065"/>
            <a:ext cx="8663650" cy="230832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800" b="1" dirty="0"/>
              <a:t>A função writeReg24(byte reg, long val)</a:t>
            </a:r>
            <a:endParaRPr lang="pt-BR" sz="800" dirty="0"/>
          </a:p>
          <a:p>
            <a:r>
              <a:rPr lang="pt-BR" sz="800" dirty="0"/>
              <a:t>O AD5933 armazena os valores de frequência em registros de </a:t>
            </a:r>
            <a:r>
              <a:rPr lang="pt-BR" sz="800" b="1" dirty="0"/>
              <a:t>24 bits</a:t>
            </a:r>
            <a:r>
              <a:rPr lang="pt-BR" sz="800" dirty="0"/>
              <a:t> (3 bytes). No entanto, a comunicação I2C padrão envia apenas </a:t>
            </a:r>
            <a:r>
              <a:rPr lang="pt-BR" sz="800" b="1" dirty="0"/>
              <a:t>8 bits</a:t>
            </a:r>
            <a:r>
              <a:rPr lang="pt-BR" sz="800" dirty="0"/>
              <a:t> (1 byte) por vez. </a:t>
            </a:r>
          </a:p>
          <a:p>
            <a:r>
              <a:rPr lang="pt-BR" sz="800" dirty="0"/>
              <a:t>Essa função pega um número grande de 32 bits (long val no Arduino) e o "fatia" em 3 pedaços de 8 bits para enviar sequencialmente ao chip. </a:t>
            </a:r>
          </a:p>
          <a:p>
            <a:endParaRPr lang="pt-BR" sz="800" dirty="0"/>
          </a:p>
          <a:p>
            <a:pPr lvl="0"/>
            <a:r>
              <a:rPr lang="pt-BR" sz="800" dirty="0"/>
              <a:t>writeReg(reg, (val &gt;&gt; 16) &amp; 0xFF); </a:t>
            </a:r>
          </a:p>
          <a:p>
            <a:pPr lvl="1"/>
            <a:r>
              <a:rPr lang="pt-BR" sz="800" dirty="0"/>
              <a:t>&gt;&gt; 16: Desloca os bits do número 16 posições para a direita. Isso isola os 8 bits mais significativos (o "topo" do número).</a:t>
            </a:r>
          </a:p>
          <a:p>
            <a:pPr lvl="1"/>
            <a:r>
              <a:rPr lang="pt-BR" sz="800" dirty="0"/>
              <a:t>&amp; 0xFF: Uma máscara binária que garante que apenas os últimos 8 bits resultantes sejam mantidos.</a:t>
            </a:r>
          </a:p>
          <a:p>
            <a:pPr lvl="1"/>
            <a:r>
              <a:rPr lang="pt-BR" sz="800" dirty="0"/>
              <a:t>Ele grava esse pedaço no registro inicial (reg). </a:t>
            </a:r>
          </a:p>
          <a:p>
            <a:pPr lvl="1"/>
            <a:endParaRPr lang="pt-BR" sz="800" dirty="0"/>
          </a:p>
          <a:p>
            <a:pPr lvl="0"/>
            <a:r>
              <a:rPr lang="pt-BR" sz="800" dirty="0"/>
              <a:t>writeReg(reg + 1, (val &gt;&gt; 8) &amp; 0xFF); </a:t>
            </a:r>
          </a:p>
          <a:p>
            <a:pPr lvl="1"/>
            <a:r>
              <a:rPr lang="pt-BR" sz="800" dirty="0"/>
              <a:t>&gt;&gt; 8: Desloca os bits 8 posições para a direita, isolando o byte do "meio".</a:t>
            </a:r>
          </a:p>
          <a:p>
            <a:pPr lvl="1"/>
            <a:r>
              <a:rPr lang="pt-BR" sz="800" dirty="0"/>
              <a:t>Grava esse pedaço no registro seguinte (reg + 1). </a:t>
            </a:r>
          </a:p>
          <a:p>
            <a:pPr lvl="1"/>
            <a:endParaRPr lang="pt-BR" sz="800" dirty="0"/>
          </a:p>
          <a:p>
            <a:pPr lvl="0"/>
            <a:r>
              <a:rPr lang="pt-BR" sz="800" dirty="0"/>
              <a:t>writeReg(reg + 2, val &amp; 0xFF); </a:t>
            </a:r>
          </a:p>
          <a:p>
            <a:pPr lvl="1"/>
            <a:r>
              <a:rPr lang="pt-BR" sz="800" dirty="0"/>
              <a:t>Não precisa deslocar nada, pois pega diretamente os 8 bits finais (a "base" do número).</a:t>
            </a:r>
          </a:p>
          <a:p>
            <a:pPr lvl="1"/>
            <a:r>
              <a:rPr lang="pt-BR" sz="800" dirty="0"/>
              <a:t>Grava no terceiro registro consecutivo (reg + 2). </a:t>
            </a:r>
          </a:p>
          <a:p>
            <a:pPr lvl="1"/>
            <a:endParaRPr lang="pt-BR" sz="800" dirty="0"/>
          </a:p>
          <a:p>
            <a:r>
              <a:rPr lang="pt-BR" sz="800" b="1" dirty="0"/>
              <a:t>Resumo:</a:t>
            </a:r>
            <a:r>
              <a:rPr lang="pt-BR" sz="800" dirty="0"/>
              <a:t> Ela divide um número grande de 24 bits e o distribui por 3 registros consecutivos do chip.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F5E8341-34F0-68BE-8EB9-DE2C507F7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3" y="1510065"/>
            <a:ext cx="2507811" cy="75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195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F9369-DD1E-61A4-E1A1-78BA3D1B1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C178B4-D056-7A46-2E3C-08209882D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3" y="421687"/>
            <a:ext cx="10515600" cy="1246858"/>
          </a:xfrm>
        </p:spPr>
        <p:txBody>
          <a:bodyPr/>
          <a:lstStyle/>
          <a:p>
            <a:r>
              <a:rPr lang="pt-B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Função setFrequency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2BBE56E1-B394-70E9-0702-9BD98D4B371E}"/>
                  </a:ext>
                </a:extLst>
              </p:cNvPr>
              <p:cNvSpPr txBox="1"/>
              <p:nvPr/>
            </p:nvSpPr>
            <p:spPr>
              <a:xfrm>
                <a:off x="3233394" y="1510065"/>
                <a:ext cx="8663650" cy="4142224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pt-BR" sz="800" b="1" dirty="0"/>
                  <a:t>A função setFrequency(byte reg, long freqHz)</a:t>
                </a:r>
                <a:endParaRPr lang="pt-BR" sz="800" dirty="0"/>
              </a:p>
              <a:p>
                <a:r>
                  <a:rPr lang="pt-BR" sz="800" dirty="0"/>
                  <a:t>O AD5933 não entende diretamente o valor em Hertz (ex: 10000Hz). Ele possui um componente interno chamado </a:t>
                </a:r>
                <a:r>
                  <a:rPr lang="pt-BR" sz="800" b="1" dirty="0"/>
                  <a:t>DDS (Direct Digital Synthesis)</a:t>
                </a:r>
                <a:r>
                  <a:rPr lang="pt-BR" sz="800" dirty="0"/>
                  <a:t>, que gera as ondas senoidais com base em um "código de frequência" binário. Esta função faz o cálculo matemático exato exigido pelo datasheet do chip. </a:t>
                </a:r>
              </a:p>
              <a:p>
                <a:r>
                  <a:rPr lang="pt-BR" sz="800" dirty="0"/>
                  <a:t>A fórmula oficial do AD5933 para converter Hertz em código binário é:</a:t>
                </a:r>
              </a:p>
              <a:p>
                <a:endParaRPr lang="pt-BR" sz="800" dirty="0"/>
              </a:p>
              <a:p>
                <a:endParaRPr lang="pt-BR" sz="800" dirty="0"/>
              </a:p>
              <a:p>
                <a:pPr algn="ctr"/>
                <a:r>
                  <a:rPr lang="pt-BR" sz="800" dirty="0"/>
                  <a:t>Código</a:t>
                </a:r>
                <a14:m>
                  <m:oMath xmlns:m="http://schemas.openxmlformats.org/officeDocument/2006/math">
                    <m:r>
                      <a:rPr lang="pt-BR" sz="8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800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pt-BR" sz="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800" b="0" i="1" smtClean="0">
                            <a:latin typeface="Cambria Math" panose="02040503050406030204" pitchFamily="18" charset="0"/>
                          </a:rPr>
                          <m:t>𝐹𝑟𝑒𝑞𝑢</m:t>
                        </m:r>
                        <m:r>
                          <a:rPr lang="pt-BR" sz="800" b="0" i="1" smtClean="0">
                            <a:latin typeface="Cambria Math" panose="02040503050406030204" pitchFamily="18" charset="0"/>
                          </a:rPr>
                          <m:t>ê</m:t>
                        </m:r>
                        <m:r>
                          <a:rPr lang="pt-BR" sz="800" b="0" i="1" smtClean="0">
                            <a:latin typeface="Cambria Math" panose="02040503050406030204" pitchFamily="18" charset="0"/>
                          </a:rPr>
                          <m:t>𝑛𝑐𝑖𝑎</m:t>
                        </m:r>
                        <m:r>
                          <a:rPr lang="pt-BR" sz="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800" b="0" i="1" smtClean="0">
                            <a:latin typeface="Cambria Math" panose="02040503050406030204" pitchFamily="18" charset="0"/>
                          </a:rPr>
                          <m:t>𝐷𝑒𝑠𝑒𝑗𝑎𝑑𝑎</m:t>
                        </m:r>
                        <m:r>
                          <a:rPr lang="pt-BR" sz="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800" b="0" i="1" smtClean="0">
                            <a:latin typeface="Cambria Math" panose="02040503050406030204" pitchFamily="18" charset="0"/>
                          </a:rPr>
                          <m:t>𝐻𝑧</m:t>
                        </m:r>
                        <m:r>
                          <a:rPr lang="pt-BR" sz="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f>
                          <m:fPr>
                            <m:ctrlPr>
                              <a:rPr lang="pt-BR" sz="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800" b="0" i="1" smtClean="0">
                                <a:latin typeface="Cambria Math" panose="02040503050406030204" pitchFamily="18" charset="0"/>
                              </a:rPr>
                              <m:t>𝐶𝑙𝑜𝑐𝑘</m:t>
                            </m:r>
                            <m:r>
                              <a:rPr lang="pt-BR" sz="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800" b="0" i="1" smtClean="0">
                                <a:latin typeface="Cambria Math" panose="02040503050406030204" pitchFamily="18" charset="0"/>
                              </a:rPr>
                              <m:t>𝑑𝑜</m:t>
                            </m:r>
                            <m:r>
                              <a:rPr lang="pt-BR" sz="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800" b="0" i="1" smtClean="0">
                                <a:latin typeface="Cambria Math" panose="02040503050406030204" pitchFamily="18" charset="0"/>
                              </a:rPr>
                              <m:t>𝑠𝑖𝑠𝑡𝑒𝑚𝑎</m:t>
                            </m:r>
                          </m:num>
                          <m:den>
                            <m:r>
                              <a:rPr lang="pt-BR" sz="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den>
                    </m:f>
                    <m:sSup>
                      <m:sSupPr>
                        <m:ctrlPr>
                          <a:rPr lang="pt-BR" sz="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800" b="0" i="1" smtClean="0">
                            <a:latin typeface="Cambria Math" panose="02040503050406030204" pitchFamily="18" charset="0"/>
                          </a:rPr>
                          <m:t>)2</m:t>
                        </m:r>
                      </m:e>
                      <m:sup>
                        <m:r>
                          <a:rPr lang="pt-BR" sz="80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sz="8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endParaRPr lang="pt-BR" sz="800" dirty="0"/>
              </a:p>
              <a:p>
                <a:endParaRPr lang="pt-BR" sz="800" dirty="0"/>
              </a:p>
              <a:p>
                <a:r>
                  <a:rPr lang="pt-BR" sz="800" dirty="0"/>
                  <a:t>Analisando a linha de código que faz isso:</a:t>
                </a:r>
              </a:p>
              <a:p>
                <a:endParaRPr lang="pt-BR" sz="800" dirty="0"/>
              </a:p>
              <a:p>
                <a:endParaRPr lang="pt-BR" sz="800" dirty="0"/>
              </a:p>
              <a:p>
                <a:endParaRPr lang="pt-BR" sz="800" dirty="0"/>
              </a:p>
              <a:p>
                <a:endParaRPr lang="pt-BR" sz="800" dirty="0"/>
              </a:p>
              <a:p>
                <a:endParaRPr lang="pt-BR" sz="800" dirty="0"/>
              </a:p>
              <a:p>
                <a:endParaRPr lang="pt-BR" sz="800" dirty="0"/>
              </a:p>
              <a:p>
                <a:endParaRPr lang="pt-BR" sz="800" dirty="0"/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pt-BR" sz="800" dirty="0"/>
                  <a:t>CLK_FREQ / 4.0: O clock interno do AD5933 passa por um divisor por 4 logo na entrada do bloco DDS. No código, CLK_FREQ é 16776000.0 (16.776 MHz). Dividido por 4, temos 4.194 MHz.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sz="800" dirty="0"/>
                  <a:t>freqHz / ...: Divide a frequência que você quer (ex: 10000 Hz) por essa frequência de referência de 4.194 MHz.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sz="800" dirty="0"/>
                  <a:t> pow(2.0, 27.0): Multiplica o resultado por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sz="800" i="1">
                            <a:latin typeface="Cambria Math" panose="02040503050406030204" pitchFamily="18" charset="0"/>
                          </a:rPr>
                          <m:t>27</m:t>
                        </m:r>
                      </m:sup>
                    </m:sSup>
                    <m:r>
                      <a:rPr lang="pt-BR" sz="800" i="1">
                        <a:latin typeface="Cambria Math" panose="02040503050406030204" pitchFamily="18" charset="0"/>
                      </a:rPr>
                      <m:t>(134.217.728)</m:t>
                    </m:r>
                  </m:oMath>
                </a14:m>
                <a:r>
                  <a:rPr lang="pt-BR" sz="800" dirty="0"/>
                  <a:t>, pois o acumulador de fase do DDS interno do chip tem uma resolução de 27 bits.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sz="800" dirty="0"/>
                  <a:t>(long)(...): Converte o resultado final (que era um número quebrado/double) em um número inteiro longo (long) de modo que o chip possa processar.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endParaRPr lang="pt-BR" sz="800" dirty="0"/>
              </a:p>
              <a:p>
                <a:r>
                  <a:rPr lang="pt-BR" sz="800" dirty="0"/>
                  <a:t>Finalmente, a linha writeReg24(reg, val); pega esse código binário calculado e envia para os registros do chip usando a primeira função que explicamos. </a:t>
                </a:r>
              </a:p>
              <a:p>
                <a:r>
                  <a:rPr lang="pt-BR" sz="800" dirty="0"/>
                  <a:t> </a:t>
                </a:r>
              </a:p>
              <a:p>
                <a:r>
                  <a:rPr lang="pt-BR" sz="800" b="1" dirty="0"/>
                  <a:t>Exemplo Prático:</a:t>
                </a:r>
                <a:endParaRPr lang="pt-BR" sz="800" dirty="0"/>
              </a:p>
              <a:p>
                <a:r>
                  <a:rPr lang="pt-BR" sz="800" dirty="0"/>
                  <a:t>Se você chama setFrequency(0x82, 10000); no setup() (para configurar a frequência inicial como 10 kHz): </a:t>
                </a:r>
              </a:p>
              <a:p>
                <a:pPr lvl="0"/>
                <a:r>
                  <a:rPr lang="pt-BR" sz="800" dirty="0"/>
                  <a:t>A matemática calcula o código binário para 10 kHz, resultando no número inteiro </a:t>
                </a:r>
                <a:r>
                  <a:rPr lang="pt-BR" sz="800" b="1" dirty="0"/>
                  <a:t>319.601</a:t>
                </a:r>
                <a:r>
                  <a:rPr lang="pt-BR" sz="800" dirty="0"/>
                  <a:t> (ou 0x04E071 em hexadecimal).</a:t>
                </a:r>
              </a:p>
              <a:p>
                <a:pPr lvl="0"/>
                <a:r>
                  <a:rPr lang="pt-BR" sz="800" dirty="0"/>
                  <a:t>A função writeReg24 entra em ação e divide esse número hexadecimal:</a:t>
                </a:r>
              </a:p>
              <a:p>
                <a:pPr lvl="1"/>
                <a:r>
                  <a:rPr lang="pt-BR" sz="800" dirty="0"/>
                  <a:t>Envia 0x04 para o registro 0x82. </a:t>
                </a:r>
              </a:p>
              <a:p>
                <a:pPr lvl="1"/>
                <a:r>
                  <a:rPr lang="pt-BR" sz="800" dirty="0"/>
                  <a:t>Envia 0xE0 para o registro 0x83 (reg + 1). </a:t>
                </a:r>
              </a:p>
              <a:p>
                <a:pPr lvl="1"/>
                <a:r>
                  <a:rPr lang="pt-BR" sz="800" dirty="0"/>
                  <a:t>Envia 0x71 para o registro 0x84 (reg + 2). </a:t>
                </a:r>
              </a:p>
              <a:p>
                <a:r>
                  <a:rPr lang="pt-BR" sz="800" dirty="0"/>
                  <a:t>Pronto! O chip agora sabe exatamente que deve começar a oscilar em 10.000 Hz. </a:t>
                </a:r>
              </a:p>
              <a:p>
                <a:endParaRPr lang="pt-BR" sz="8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2BBE56E1-B394-70E9-0702-9BD98D4B3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3394" y="1510065"/>
                <a:ext cx="8663650" cy="41422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m 2">
            <a:extLst>
              <a:ext uri="{FF2B5EF4-FFF2-40B4-BE49-F238E27FC236}">
                <a16:creationId xmlns:a16="http://schemas.microsoft.com/office/drawing/2014/main" id="{3DA43D04-C3C2-7688-3215-D662C7C89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3" y="1510065"/>
            <a:ext cx="2737897" cy="38856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AAA5FD96-2FD6-0DF8-6F5B-109227E6C1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2941" y="2863828"/>
            <a:ext cx="4059555" cy="63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684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E790E-B2AE-E890-68CA-5E23849DF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A9871C-7EB4-B2B4-B0E6-8505D1E00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3" y="421687"/>
            <a:ext cx="10515600" cy="1246858"/>
          </a:xfrm>
        </p:spPr>
        <p:txBody>
          <a:bodyPr/>
          <a:lstStyle/>
          <a:p>
            <a:r>
              <a:rPr lang="pt-B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Função readStatus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6499DFE-2353-CB4F-7F8C-DCD35164D61A}"/>
              </a:ext>
            </a:extLst>
          </p:cNvPr>
          <p:cNvSpPr txBox="1"/>
          <p:nvPr/>
        </p:nvSpPr>
        <p:spPr>
          <a:xfrm>
            <a:off x="3233394" y="1510065"/>
            <a:ext cx="8663650" cy="452431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800" dirty="0"/>
              <a:t>A função readStatus() serve para </a:t>
            </a:r>
            <a:r>
              <a:rPr lang="pt-BR" sz="800" b="1" dirty="0"/>
              <a:t>ler o registrador de status interno do AD5933 (endereço </a:t>
            </a:r>
            <a:r>
              <a:rPr lang="pt-BR" sz="800" dirty="0"/>
              <a:t>0x8F</a:t>
            </a:r>
            <a:r>
              <a:rPr lang="pt-BR" sz="800" b="1" dirty="0"/>
              <a:t>) e descobrir o que o chip está fazendo naquele exato momento</a:t>
            </a:r>
            <a:r>
              <a:rPr lang="pt-BR" sz="800" dirty="0"/>
              <a:t>. </a:t>
            </a:r>
          </a:p>
          <a:p>
            <a:r>
              <a:rPr lang="pt-BR" sz="800" dirty="0"/>
              <a:t>O AD5933 é um componente que trabalha de forma assíncrona; ou seja, quando você pede para ele fazer uma varredura de frequência ou uma leitura, ele demora um tempo real para processar o sinal físico. Essa função funciona como uma "pergunta" que o microcontrolador faz ao chip: </a:t>
            </a:r>
            <a:r>
              <a:rPr lang="pt-BR" sz="800" i="1" dirty="0"/>
              <a:t>"Você já terminou o que eu pedi?"</a:t>
            </a:r>
            <a:r>
              <a:rPr lang="pt-BR" sz="800" dirty="0"/>
              <a:t>.</a:t>
            </a:r>
          </a:p>
          <a:p>
            <a:endParaRPr lang="pt-BR" sz="800" dirty="0"/>
          </a:p>
          <a:p>
            <a:pPr marL="228600" indent="-228600">
              <a:buAutoNum type="arabicPeriod"/>
            </a:pPr>
            <a:r>
              <a:rPr lang="pt-BR" sz="800" b="1" dirty="0"/>
              <a:t>Selecionando o registrador de status</a:t>
            </a:r>
          </a:p>
          <a:p>
            <a:pPr marL="228600" indent="-228600">
              <a:buAutoNum type="arabicPeriod"/>
            </a:pPr>
            <a:endParaRPr lang="pt-BR" sz="800" b="1" dirty="0"/>
          </a:p>
          <a:p>
            <a:pPr marL="228600" indent="-228600">
              <a:buAutoNum type="arabicPeriod"/>
            </a:pPr>
            <a:endParaRPr lang="pt-BR" sz="800" b="1" dirty="0"/>
          </a:p>
          <a:p>
            <a:pPr marL="228600" indent="-228600">
              <a:buAutoNum type="arabicPeriod"/>
            </a:pPr>
            <a:endParaRPr lang="pt-BR" sz="800" b="1" dirty="0"/>
          </a:p>
          <a:p>
            <a:endParaRPr lang="pt-BR" sz="800" b="1" dirty="0"/>
          </a:p>
          <a:p>
            <a:r>
              <a:rPr lang="pt-BR" sz="800" dirty="0"/>
              <a:t>Antes de ler um dado no protocolo I2C, você precisa dizer ao chip </a:t>
            </a:r>
            <a:r>
              <a:rPr lang="pt-BR" sz="800" i="1" dirty="0"/>
              <a:t>de onde</a:t>
            </a:r>
            <a:r>
              <a:rPr lang="pt-BR" sz="800" dirty="0"/>
              <a:t> quer ler. Essas três linhas abrem a comunicação com o AD5933 , apontam o ponteiro interno dele para o registrador 0x8F (que é o registrador de Status do chip) e fecham essa primeira etapa. </a:t>
            </a:r>
          </a:p>
          <a:p>
            <a:endParaRPr lang="pt-BR" sz="800" dirty="0"/>
          </a:p>
          <a:p>
            <a:r>
              <a:rPr lang="pt-BR" sz="800" b="1" dirty="0"/>
              <a:t>2. Solicitando a leitura</a:t>
            </a:r>
          </a:p>
          <a:p>
            <a:endParaRPr lang="pt-BR" sz="800" b="1" dirty="0"/>
          </a:p>
          <a:p>
            <a:endParaRPr lang="pt-BR" sz="800" dirty="0"/>
          </a:p>
          <a:p>
            <a:r>
              <a:rPr lang="pt-BR" sz="800" dirty="0"/>
              <a:t>Aqui o microcontrolador toma a iniciativa e diz: </a:t>
            </a:r>
            <a:r>
              <a:rPr lang="pt-BR" sz="800" i="1" dirty="0"/>
              <a:t>"AD5933, por favor, me envie </a:t>
            </a:r>
            <a:r>
              <a:rPr lang="pt-BR" sz="800" b="1" i="1" dirty="0"/>
              <a:t>1 byte</a:t>
            </a:r>
            <a:r>
              <a:rPr lang="pt-BR" sz="800" i="1" dirty="0"/>
              <a:t> de informação a partir do registrador que acabei de apontar (</a:t>
            </a:r>
            <a:r>
              <a:rPr lang="pt-BR" sz="800" dirty="0"/>
              <a:t>0x8F</a:t>
            </a:r>
            <a:r>
              <a:rPr lang="pt-BR" sz="800" i="1" dirty="0"/>
              <a:t>)"</a:t>
            </a:r>
            <a:r>
              <a:rPr lang="pt-BR" sz="800" dirty="0"/>
              <a:t>. O AD5933 então coloca esse byte com as informações de status no barramento I2C. </a:t>
            </a:r>
          </a:p>
          <a:p>
            <a:endParaRPr lang="pt-BR" sz="800" dirty="0"/>
          </a:p>
          <a:p>
            <a:r>
              <a:rPr lang="pt-BR" sz="800" b="1" dirty="0"/>
              <a:t>3. Capturando e retornando o resultado</a:t>
            </a:r>
          </a:p>
          <a:p>
            <a:pPr marL="228600" indent="-228600">
              <a:buAutoNum type="arabicPeriod"/>
            </a:pPr>
            <a:endParaRPr lang="pt-BR" sz="800" b="1" dirty="0"/>
          </a:p>
          <a:p>
            <a:pPr marL="228600" indent="-228600">
              <a:buAutoNum type="arabicPeriod"/>
            </a:pPr>
            <a:endParaRPr lang="pt-BR" sz="800" b="1" dirty="0"/>
          </a:p>
          <a:p>
            <a:r>
              <a:rPr lang="pt-BR" sz="800" dirty="0"/>
              <a:t>Esta linha usa um operador condicional (ternário) para garantir que o código não trave se houver uma falha de comunicação:</a:t>
            </a:r>
          </a:p>
          <a:p>
            <a:pPr lvl="0"/>
            <a:r>
              <a:rPr lang="pt-BR" sz="800" dirty="0"/>
              <a:t>Wire.available(): Verifica se o chip realmente enviou o byte solicitado e se ele está disponível no buffer de recepção. </a:t>
            </a:r>
          </a:p>
          <a:p>
            <a:pPr lvl="0"/>
            <a:r>
              <a:rPr lang="pt-BR" sz="800" dirty="0"/>
              <a:t>Wire.read(): Se o dado estiver lá (verdadeiro), o microcontrolador lê esse byte do buffer e a função o </a:t>
            </a:r>
            <a:r>
              <a:rPr lang="pt-BR" sz="800" b="1" dirty="0"/>
              <a:t>retorna</a:t>
            </a:r>
            <a:r>
              <a:rPr lang="pt-BR" sz="800" dirty="0"/>
              <a:t>. </a:t>
            </a:r>
          </a:p>
          <a:p>
            <a:pPr lvl="0"/>
            <a:r>
              <a:rPr lang="pt-BR" sz="800" dirty="0"/>
              <a:t>: 0: Se por algum motivo a comunicação falhar e nenhum dado estiver disponível (falso), a função retorna 0 de forma segura. </a:t>
            </a:r>
          </a:p>
          <a:p>
            <a:pPr lvl="0"/>
            <a:endParaRPr lang="pt-BR" sz="800" dirty="0"/>
          </a:p>
          <a:p>
            <a:r>
              <a:rPr lang="pt-BR" sz="800" b="1" dirty="0"/>
              <a:t>Por que esse byte de status é tão importante?</a:t>
            </a:r>
            <a:endParaRPr lang="pt-BR" sz="800" dirty="0"/>
          </a:p>
          <a:p>
            <a:r>
              <a:rPr lang="pt-BR" sz="800" dirty="0"/>
              <a:t>O byte retornado por essa função contém "bandeiras" (bits específicos) que indicam o estado do hardware. No seu código, o bit mais importante extraído desse status é o </a:t>
            </a:r>
            <a:r>
              <a:rPr lang="pt-BR" sz="800" b="1" dirty="0"/>
              <a:t>Bit 1 (valor </a:t>
            </a:r>
            <a:r>
              <a:rPr lang="pt-BR" sz="800" dirty="0"/>
              <a:t>0x02</a:t>
            </a:r>
            <a:r>
              <a:rPr lang="pt-BR" sz="800" b="1" dirty="0"/>
              <a:t>)</a:t>
            </a:r>
            <a:r>
              <a:rPr lang="pt-BR" sz="800" dirty="0"/>
              <a:t>.</a:t>
            </a:r>
          </a:p>
          <a:p>
            <a:r>
              <a:rPr lang="pt-BR" sz="800" dirty="0"/>
              <a:t>Veja como ele é usado na função seguinte do seu código (waitValid): </a:t>
            </a:r>
          </a:p>
          <a:p>
            <a:endParaRPr lang="pt-BR" sz="800" dirty="0"/>
          </a:p>
          <a:p>
            <a:endParaRPr lang="pt-BR" sz="800" dirty="0"/>
          </a:p>
          <a:p>
            <a:endParaRPr lang="pt-BR" sz="800" b="1" dirty="0"/>
          </a:p>
          <a:p>
            <a:pPr lvl="0"/>
            <a:r>
              <a:rPr lang="pt-BR" sz="800" b="1" dirty="0"/>
              <a:t>Significado do Bit </a:t>
            </a:r>
            <a:r>
              <a:rPr lang="pt-BR" sz="800" dirty="0"/>
              <a:t>0x02</a:t>
            </a:r>
            <a:r>
              <a:rPr lang="pt-BR" sz="800" b="1" dirty="0"/>
              <a:t>:</a:t>
            </a:r>
            <a:r>
              <a:rPr lang="pt-BR" sz="800" dirty="0"/>
              <a:t> No datasheet do AD5933, esse bit indica que os dados reais e imaginários da conversão DFT (Transformada Discreta de Fourier) </a:t>
            </a:r>
            <a:r>
              <a:rPr lang="pt-BR" sz="800" b="1" dirty="0"/>
              <a:t>estão válidos e prontos para serem lidos</a:t>
            </a:r>
            <a:r>
              <a:rPr lang="pt-BR" sz="800" dirty="0"/>
              <a:t>. </a:t>
            </a:r>
          </a:p>
          <a:p>
            <a:pPr lvl="0"/>
            <a:r>
              <a:rPr lang="pt-BR" sz="800" dirty="0"/>
              <a:t>O microcontrolador fica chamando readStatus() repetidamente dentro de um laço até que esse bit mude para 1, garantindo que você nunca tente ler os resultados de impedância antes que o chip termine de processar a frequência atual.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FDA1F28-6383-DECC-8F18-54BCB86DA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3" y="1510065"/>
            <a:ext cx="2651263" cy="100608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65CA458-EB0D-22FA-130C-BE56558AF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6002" y="2224532"/>
            <a:ext cx="1673860" cy="3727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A2BEC33-7992-6B9B-157B-BED73A25B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6002" y="3141713"/>
            <a:ext cx="1673860" cy="21082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AF6753D-296F-4C66-F876-60EF9C0F7A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6002" y="3896969"/>
            <a:ext cx="2030095" cy="14478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03E69FB-2275-D1D9-C2FF-C84FCEFF62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6002" y="5130127"/>
            <a:ext cx="2042160" cy="12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174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D7E7C-1EFF-52DB-04BF-10F04DBE6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FAE55B-C8F7-B22B-251F-80DDA055D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3" y="421687"/>
            <a:ext cx="10515600" cy="1246858"/>
          </a:xfrm>
        </p:spPr>
        <p:txBody>
          <a:bodyPr/>
          <a:lstStyle/>
          <a:p>
            <a:r>
              <a:rPr lang="pt-B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Função readData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C70EF61-7385-44A4-1DB6-82798C05E087}"/>
              </a:ext>
            </a:extLst>
          </p:cNvPr>
          <p:cNvSpPr txBox="1"/>
          <p:nvPr/>
        </p:nvSpPr>
        <p:spPr>
          <a:xfrm>
            <a:off x="3233394" y="1510065"/>
            <a:ext cx="8663650" cy="501675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800" dirty="0"/>
              <a:t>A função readData(byte reg) serve para </a:t>
            </a:r>
            <a:r>
              <a:rPr lang="pt-BR" sz="800" b="1" dirty="0"/>
              <a:t>ler um valor inteiro de 16 bits (com sinal) de dentro do AD5933</a:t>
            </a:r>
            <a:r>
              <a:rPr lang="pt-BR" sz="800" dirty="0"/>
              <a:t>. Ela é utilizada especificamente para capturar os dados brutos e fundamentais da amostragem: os valores </a:t>
            </a:r>
            <a:r>
              <a:rPr lang="pt-BR" sz="800" b="1" dirty="0"/>
              <a:t>Real</a:t>
            </a:r>
            <a:r>
              <a:rPr lang="pt-BR" sz="800" dirty="0"/>
              <a:t> (nos registradores 0x94 e 0x95) e </a:t>
            </a:r>
            <a:r>
              <a:rPr lang="pt-BR" sz="800" b="1" dirty="0"/>
              <a:t>Imaginário</a:t>
            </a:r>
            <a:r>
              <a:rPr lang="pt-BR" sz="800" dirty="0"/>
              <a:t> (nos registradores 0x96 e 0x97) após o chip processar a impedância. </a:t>
            </a:r>
          </a:p>
          <a:p>
            <a:r>
              <a:rPr lang="pt-BR" sz="800" dirty="0"/>
              <a:t>Assim como o chip divide números grandes para salvar (como vimos na função writeReg24), os resultados internos de 16 bits também ficam divididos em duas "gavetas" de 8 bits (bytes) consecutivas. Esta função reconstrói esse quebra-cabeça.</a:t>
            </a:r>
          </a:p>
          <a:p>
            <a:r>
              <a:rPr lang="pt-BR" sz="800" dirty="0"/>
              <a:t> </a:t>
            </a:r>
          </a:p>
          <a:p>
            <a:r>
              <a:rPr lang="pt-BR" sz="800" b="1" dirty="0"/>
              <a:t>1. Apontando para o registrador inicial</a:t>
            </a:r>
            <a:endParaRPr lang="pt-BR" sz="800" dirty="0"/>
          </a:p>
          <a:p>
            <a:pPr marL="228600" indent="-228600">
              <a:buAutoNum type="arabicPeriod"/>
            </a:pPr>
            <a:endParaRPr lang="pt-BR" sz="800" b="1" dirty="0"/>
          </a:p>
          <a:p>
            <a:endParaRPr lang="pt-BR" sz="800" b="1" dirty="0"/>
          </a:p>
          <a:p>
            <a:pPr marL="228600" indent="-228600">
              <a:buAutoNum type="arabicPeriod"/>
            </a:pPr>
            <a:endParaRPr lang="pt-BR" sz="800" b="1" dirty="0"/>
          </a:p>
          <a:p>
            <a:endParaRPr lang="pt-BR" sz="800" b="1" dirty="0"/>
          </a:p>
          <a:p>
            <a:r>
              <a:rPr lang="pt-BR" sz="800" dirty="0"/>
              <a:t>O microcontrolador inicia a comunicação I2C com o AD5933 e envia o endereço do primeiro registrador que deseja ler (reg). Por exemplo, ao passar 0x94 (parte alta do valor Real), o chip se prepara para começar a entrega a partir dali. </a:t>
            </a:r>
          </a:p>
          <a:p>
            <a:endParaRPr lang="pt-BR" sz="800" b="1" dirty="0"/>
          </a:p>
          <a:p>
            <a:r>
              <a:rPr lang="pt-BR" sz="800" b="1" dirty="0"/>
              <a:t>2. Solicitando os dados</a:t>
            </a:r>
          </a:p>
          <a:p>
            <a:endParaRPr lang="pt-BR" sz="800" b="1" dirty="0"/>
          </a:p>
          <a:p>
            <a:endParaRPr lang="pt-BR" sz="800" dirty="0"/>
          </a:p>
          <a:p>
            <a:r>
              <a:rPr lang="pt-BR" sz="800" dirty="0"/>
              <a:t>Como um dado completo ocupa 16 bits, o microcontrolador solicita explicitamente </a:t>
            </a:r>
            <a:r>
              <a:rPr lang="pt-BR" sz="800" b="1" dirty="0"/>
              <a:t>2 bytes</a:t>
            </a:r>
            <a:r>
              <a:rPr lang="pt-BR" sz="800" dirty="0"/>
              <a:t> seguidos de informação. O AD5933 entrega o byte do registrador selecionado (reg) e, automaticamente, avança para entregar o byte do registrador seguinte (reg + 1). </a:t>
            </a:r>
          </a:p>
          <a:p>
            <a:endParaRPr lang="pt-BR" sz="800" dirty="0"/>
          </a:p>
          <a:p>
            <a:r>
              <a:rPr lang="pt-BR" sz="800" b="1" dirty="0"/>
              <a:t>3. Validação de segurança</a:t>
            </a:r>
          </a:p>
          <a:p>
            <a:endParaRPr lang="pt-BR" sz="800" dirty="0"/>
          </a:p>
          <a:p>
            <a:pPr marL="228600" indent="-228600">
              <a:buAutoNum type="arabicPeriod"/>
            </a:pPr>
            <a:endParaRPr lang="pt-BR" sz="800" b="1" dirty="0"/>
          </a:p>
          <a:p>
            <a:r>
              <a:rPr lang="pt-BR" sz="800" dirty="0"/>
              <a:t>Uma checagem essencial: se por algum problema de mau contato ou ruído o barramento I2C não trouxer os 2 bytes esperados, a função interrompe a execução com segurança e retorna 0, evitando ler lixo de memória.</a:t>
            </a:r>
          </a:p>
          <a:p>
            <a:endParaRPr lang="pt-BR" sz="800" dirty="0"/>
          </a:p>
          <a:p>
            <a:r>
              <a:rPr lang="pt-BR" sz="800" b="1" dirty="0"/>
              <a:t>4. Reconstrução do número de 16 bits</a:t>
            </a:r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r>
              <a:rPr lang="pt-BR" sz="800" dirty="0"/>
              <a:t>Esta linha junta os dois bytes de 8 bits em um único número de 16 bits utilizando operadores lógicos binários: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Wire.read() &lt;&lt; 8: O primeiro byte lido é a </a:t>
            </a:r>
            <a:r>
              <a:rPr lang="pt-BR" sz="800" b="1" dirty="0"/>
              <a:t>Parte Alta</a:t>
            </a:r>
            <a:r>
              <a:rPr lang="pt-BR" sz="800" dirty="0"/>
              <a:t> (MSB - </a:t>
            </a:r>
            <a:r>
              <a:rPr lang="pt-BR" sz="800" i="1" dirty="0"/>
              <a:t>Most Significant Byte</a:t>
            </a:r>
            <a:r>
              <a:rPr lang="pt-BR" sz="800" dirty="0"/>
              <a:t>). O operador &lt;&lt; 8 desloca esses 8 bits para a esquerda, movendo-os para a metade superior do número de 16 bits.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800" dirty="0"/>
              <a:t>| Wire.read(): O segundo byte lido é a </a:t>
            </a:r>
            <a:r>
              <a:rPr lang="pt-BR" sz="800" b="1" dirty="0"/>
              <a:t>Parte Baixa</a:t>
            </a:r>
            <a:r>
              <a:rPr lang="pt-BR" sz="800" dirty="0"/>
              <a:t> (LSB - </a:t>
            </a:r>
            <a:r>
              <a:rPr lang="pt-BR" sz="800" i="1" dirty="0"/>
              <a:t>Least Significant Byte</a:t>
            </a:r>
            <a:r>
              <a:rPr lang="pt-BR" sz="800" dirty="0"/>
              <a:t>). O operador | (OU bit a bit) combina esse segundo byte na metade inferior que estava vazia.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800" dirty="0"/>
              <a:t>(int16_t)(...): Converte (faz o </a:t>
            </a:r>
            <a:r>
              <a:rPr lang="pt-BR" sz="800" i="1" dirty="0"/>
              <a:t>cast</a:t>
            </a:r>
            <a:r>
              <a:rPr lang="pt-BR" sz="800" dirty="0"/>
              <a:t>) do resultado final para um tipo inteiro de 16 bits </a:t>
            </a:r>
            <a:r>
              <a:rPr lang="pt-BR" sz="800" b="1" dirty="0"/>
              <a:t>com sinal</a:t>
            </a:r>
            <a:r>
              <a:rPr lang="pt-BR" sz="800" dirty="0"/>
              <a:t>. Isso é vital porque os valores Real e Imaginário gerados pela conversão DFT do AD5933 podem ser tanto positivos quanto negativos.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pt-BR" sz="800" dirty="0"/>
          </a:p>
          <a:p>
            <a:r>
              <a:rPr lang="pt-BR" sz="800" b="1" dirty="0"/>
              <a:t>Onde ela é usada no seu código?</a:t>
            </a:r>
            <a:endParaRPr lang="pt-BR" sz="800" dirty="0"/>
          </a:p>
          <a:p>
            <a:r>
              <a:rPr lang="pt-BR" sz="800" dirty="0"/>
              <a:t>Ela aparece tanto na calibração quanto no loop principal para obter os componentes vetoriais da impedância: </a:t>
            </a:r>
          </a:p>
          <a:p>
            <a:endParaRPr lang="pt-BR" sz="800" dirty="0"/>
          </a:p>
          <a:p>
            <a:endParaRPr lang="pt-BR" sz="800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E9F94ED-9CF4-97D8-525C-C5889479B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11" y="1462669"/>
            <a:ext cx="2564765" cy="96774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A6ECDA2-CBD1-74B0-1B39-69C814393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006" y="2325618"/>
            <a:ext cx="1774825" cy="36258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BA1716F-A63C-2429-1106-C0D495145E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6002" y="3289300"/>
            <a:ext cx="1781175" cy="1397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E44C236-BB1C-3C2B-F6A8-5F275AFD93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0287" y="4023878"/>
            <a:ext cx="1786890" cy="145415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38FEAC4C-91FA-4B97-FB65-EA6367D9D9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0287" y="4764171"/>
            <a:ext cx="1992630" cy="100965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7B61CE73-8356-D642-7F1D-8ACC061F6E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0287" y="6079657"/>
            <a:ext cx="200660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859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080F4-A1C0-C03D-0928-AB4110003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318669-A1F3-CDAD-4F10-5A0591176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3" y="421687"/>
            <a:ext cx="10515600" cy="1246858"/>
          </a:xfrm>
        </p:spPr>
        <p:txBody>
          <a:bodyPr/>
          <a:lstStyle/>
          <a:p>
            <a:r>
              <a:rPr lang="pt-B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Função waitValid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36B2E93-6370-C465-5428-CDBCD98BD2EF}"/>
              </a:ext>
            </a:extLst>
          </p:cNvPr>
          <p:cNvSpPr txBox="1"/>
          <p:nvPr/>
        </p:nvSpPr>
        <p:spPr>
          <a:xfrm>
            <a:off x="2780341" y="1510065"/>
            <a:ext cx="9116703" cy="501675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800" dirty="0"/>
              <a:t>A função waitValid(int max_ms = 3000) serve como um </a:t>
            </a:r>
            <a:r>
              <a:rPr lang="pt-BR" sz="800" b="1" dirty="0"/>
              <a:t>mecanismo de segurança e sincronização (timeout)</a:t>
            </a:r>
            <a:r>
              <a:rPr lang="pt-BR" sz="800" dirty="0"/>
              <a:t>. A sua função principal é fazer o microcontrolador esperar pacientemente até que o chip AD5933 termine de processar a frequência atual e gere dados válidos , mas sem deixar o código travar para sempre caso ocorra alguma falha física. </a:t>
            </a:r>
          </a:p>
          <a:p>
            <a:r>
              <a:rPr lang="pt-BR" sz="800" dirty="0"/>
              <a:t> </a:t>
            </a:r>
          </a:p>
          <a:p>
            <a:r>
              <a:rPr lang="pt-BR" sz="800" b="1" dirty="0"/>
              <a:t>1. Parâmetro com Valor Padrão</a:t>
            </a:r>
          </a:p>
          <a:p>
            <a:endParaRPr lang="pt-BR" sz="800" b="1" dirty="0"/>
          </a:p>
          <a:p>
            <a:pPr marL="228600" indent="-228600">
              <a:buAutoNum type="arabicPeriod"/>
            </a:pPr>
            <a:endParaRPr lang="pt-BR" sz="800" b="1" dirty="0"/>
          </a:p>
          <a:p>
            <a:endParaRPr lang="pt-BR" sz="800" b="1" dirty="0"/>
          </a:p>
          <a:p>
            <a:r>
              <a:rPr lang="pt-BR" sz="800" dirty="0"/>
              <a:t>O argumento int max_ms = 3000 define o tempo máximo de espera em milissegundos. O = 3000 significa que este é um </a:t>
            </a:r>
            <a:r>
              <a:rPr lang="pt-BR" sz="800" b="1" dirty="0"/>
              <a:t>parâmetro opcional</a:t>
            </a:r>
            <a:r>
              <a:rPr lang="pt-BR" sz="800" dirty="0"/>
              <a:t>. Se você chamar a função apenas como waitValid(), ela assumirá automaticamente o limite de 3000 ms (3 segundos). Se quiser uma espera menor, pode chamar waitValid(2000). </a:t>
            </a:r>
          </a:p>
          <a:p>
            <a:endParaRPr lang="pt-BR" sz="800" b="1" dirty="0"/>
          </a:p>
          <a:p>
            <a:r>
              <a:rPr lang="pt-BR" sz="800" b="1" dirty="0"/>
              <a:t>2. Criação do Cronômetro (Timeout)</a:t>
            </a:r>
            <a:endParaRPr lang="pt-BR" sz="800" dirty="0"/>
          </a:p>
          <a:p>
            <a:endParaRPr lang="pt-BR" sz="800" b="1" dirty="0"/>
          </a:p>
          <a:p>
            <a:endParaRPr lang="pt-BR" sz="800" dirty="0"/>
          </a:p>
          <a:p>
            <a:r>
              <a:rPr lang="pt-BR" sz="800" dirty="0"/>
              <a:t>A função millis() retorna o tempo em milissegundos desde que a placa foi ligada. Ao somar max_ms a esse valor, o código estabelece uma "linha de chegada" no tempo. Se o relógio da placa passar desse ponto e o chip não responder, a espera acaba. </a:t>
            </a:r>
          </a:p>
          <a:p>
            <a:endParaRPr lang="pt-BR" sz="800" dirty="0"/>
          </a:p>
          <a:p>
            <a:r>
              <a:rPr lang="pt-BR" sz="800" b="1" dirty="0"/>
              <a:t>3. O Laço de Verificação</a:t>
            </a:r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pPr marL="228600" indent="-228600">
              <a:buAutoNum type="arabicPeriod"/>
            </a:pPr>
            <a:endParaRPr lang="pt-BR" sz="800" b="1" dirty="0"/>
          </a:p>
          <a:p>
            <a:r>
              <a:rPr lang="pt-BR" sz="800" dirty="0"/>
              <a:t>Enquanto o tempo limite não for atingido, o microcontrolador fica preso dentro deste laço executando três passos repetidamente: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readStatus(): Chama a função que lê o registrador de status do AD5933.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&amp; 0x02: Faz uma máscara binária para isolar especificamente o </a:t>
            </a:r>
            <a:r>
              <a:rPr lang="pt-BR" sz="800" b="1" dirty="0"/>
              <a:t>Bit 1</a:t>
            </a:r>
            <a:r>
              <a:rPr lang="pt-BR" sz="800" dirty="0"/>
              <a:t> do status. Como vimos anteriormente, no datasheet do AD5933, este bit mudar para 1 significa que a conversão daquela frequência terminou e os dados de impedância estão prontos e válidos.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return true;: Se o bit for 1 (verdadeiro), a função interrompe o laço imediatamente e retorna true, avisando ao resto do programa: </a:t>
            </a:r>
            <a:r>
              <a:rPr lang="pt-BR" sz="800" i="1" dirty="0"/>
              <a:t>"Os dados estão prontos, pode ler!"</a:t>
            </a:r>
            <a:r>
              <a:rPr lang="pt-BR" sz="800" dirty="0"/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delay(5);: Se o bit ainda for 0, o código dá uma curtíssima pausa de 5 milissegundos antes de perguntar de novo. Isso evita sobrecarregar o barramento I2C com perguntas consecutivas desnecessárias. </a:t>
            </a:r>
          </a:p>
          <a:p>
            <a:endParaRPr lang="pt-BR" sz="800" dirty="0"/>
          </a:p>
          <a:p>
            <a:r>
              <a:rPr lang="pt-BR" sz="800" b="1" dirty="0"/>
              <a:t>4. Resposta de Falha</a:t>
            </a:r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r>
              <a:rPr lang="pt-BR" sz="800" dirty="0"/>
              <a:t>Se o laço while terminar porque o tempo esgotou (millis() &gt;= timeout) e o chip nunca chegou a ativar o bit 0x02, a função sai do laço e retorna false. Isso indica que houve uma falha de hardware ou que o chip travou. </a:t>
            </a:r>
          </a:p>
          <a:p>
            <a:r>
              <a:rPr lang="pt-BR" sz="800" b="1" dirty="0"/>
              <a:t>Como ela protege o seu código?</a:t>
            </a:r>
            <a:endParaRPr lang="pt-BR" sz="800" dirty="0"/>
          </a:p>
          <a:p>
            <a:r>
              <a:rPr lang="pt-BR" sz="800" dirty="0"/>
              <a:t>No loop principal e na calibração, o retorno dessa função é usado para decidir se o código deve prosseguir ou parar</a:t>
            </a:r>
          </a:p>
          <a:p>
            <a:endParaRPr lang="pt-BR" sz="800" dirty="0"/>
          </a:p>
          <a:p>
            <a:endParaRPr lang="pt-BR" sz="800" b="1" dirty="0"/>
          </a:p>
          <a:p>
            <a:r>
              <a:rPr lang="pt-BR" sz="800" dirty="0"/>
              <a:t>Sem essa função, se o AD5933 desconectasse no meio do caminho, o microcontrolador leria dados zerados ou ficaria esperando infinitamente, travando o sistema. </a:t>
            </a:r>
            <a:endParaRPr lang="pt-BR" sz="8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57119A1-B511-7F19-A064-7167414F3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56" y="1491497"/>
            <a:ext cx="2267585" cy="98742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965870B-494A-83F0-35AF-6999A1113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104" y="2043045"/>
            <a:ext cx="1721485" cy="13398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000A31B-893B-AD7F-299F-BF7922B4B1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6582" y="2916296"/>
            <a:ext cx="2155190" cy="133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9515F76-A7E8-D0B9-E3CA-CD3BE17A70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8375" y="3647781"/>
            <a:ext cx="1816735" cy="46926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E4467C7-8A32-1B7B-BCFB-5355DAFF62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8375" y="5350712"/>
            <a:ext cx="688340" cy="13081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64B26CD-2D1B-4064-9A57-3DD43AC377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8375" y="6065645"/>
            <a:ext cx="3408045" cy="14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264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B0FD2-7110-2BBA-6723-818EA0079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467A1D-9429-BC97-829E-E97C70FA3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3" y="421687"/>
            <a:ext cx="10515600" cy="1246858"/>
          </a:xfrm>
        </p:spPr>
        <p:txBody>
          <a:bodyPr/>
          <a:lstStyle/>
          <a:p>
            <a:r>
              <a:rPr lang="pt-B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Função calculateMovingAverage</a:t>
            </a:r>
            <a:r>
              <a:rPr lang="pt-BR" dirty="0"/>
              <a:t> </a:t>
            </a:r>
            <a:endParaRPr lang="pt-BR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74A5EE4-4FCA-8462-80FE-B7AC2B380C5A}"/>
              </a:ext>
            </a:extLst>
          </p:cNvPr>
          <p:cNvSpPr txBox="1"/>
          <p:nvPr/>
        </p:nvSpPr>
        <p:spPr>
          <a:xfrm>
            <a:off x="2780341" y="1510065"/>
            <a:ext cx="9116703" cy="52629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800" dirty="0"/>
              <a:t>A função calculateMovingAverage serve para </a:t>
            </a:r>
            <a:r>
              <a:rPr lang="pt-BR" sz="800" b="1" dirty="0"/>
              <a:t>calcular a média móvel dos parâmetros de impedância para uma frequência específica</a:t>
            </a:r>
            <a:r>
              <a:rPr lang="pt-BR" sz="800" dirty="0"/>
              <a:t>. </a:t>
            </a:r>
          </a:p>
          <a:p>
            <a:r>
              <a:rPr lang="pt-BR" sz="800" dirty="0"/>
              <a:t>Em projetos de leitura de sinais analógicos (como a bioimpedância com o AD5933), as leituras brutas podem sofrer com ruídos elétricos oscilantes. Para suavizar esses ruídos e obter um dado muito mais estável e confiável, o código armazena as últimas leituras em uma "janela" (neste caso, de tamanho 5) e calcula a média delas. </a:t>
            </a:r>
          </a:p>
          <a:p>
            <a:r>
              <a:rPr lang="pt-BR" sz="800" b="1" dirty="0"/>
              <a:t>1. Parâmetros de Entrada</a:t>
            </a:r>
            <a:endParaRPr lang="pt-BR" sz="800" dirty="0"/>
          </a:p>
          <a:p>
            <a:endParaRPr lang="pt-BR" sz="800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int freqIndex: É o índice da frequência atual na varredura (o "passo" atual do sweep). Como o código varre várias frequências, cada uma delas tem o seu próprio histórico de leituras guardado na matriz windows.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Measurement* avg: É um ponteiro para uma estrutura do tipo Measurement. A função vai usar esse ponteiro para "devolver" os resultados calculados diretamente para a variável que a chamou. </a:t>
            </a:r>
          </a:p>
          <a:p>
            <a:r>
              <a:rPr lang="pt-BR" sz="800" dirty="0"/>
              <a:t> </a:t>
            </a:r>
          </a:p>
          <a:p>
            <a:r>
              <a:rPr lang="pt-BR" sz="800" b="1" dirty="0"/>
              <a:t>2. Inicialização e Validação de Segurança</a:t>
            </a:r>
            <a:endParaRPr lang="pt-BR" sz="800" dirty="0"/>
          </a:p>
          <a:p>
            <a:endParaRPr lang="pt-BR" sz="800" b="1" dirty="0"/>
          </a:p>
          <a:p>
            <a:endParaRPr lang="pt-BR" sz="800" dirty="0"/>
          </a:p>
          <a:p>
            <a:endParaRPr lang="pt-BR" sz="800" dirty="0"/>
          </a:p>
          <a:p>
            <a:r>
              <a:rPr lang="pt-BR" sz="800" dirty="0"/>
              <a:t>O código zera as variáveis que vão acumular a soma de cada um dos parâmetros (Impedância, Fase, Real, Imaginário e Magnitude). </a:t>
            </a:r>
          </a:p>
          <a:p>
            <a:pPr lvl="0"/>
            <a:r>
              <a:rPr lang="pt-BR" sz="800" dirty="0"/>
              <a:t>windowCounts[freqIndex]: Verifica quantas amostras já foram guardadas na janela daquela frequência específica. Se for a primeiríssima vez que o código roda e a janela estiver vazia (count &lt;= 0), a função interrompe a execução imediatamente para evitar uma divisão por zero. </a:t>
            </a:r>
          </a:p>
          <a:p>
            <a:r>
              <a:rPr lang="pt-BR" sz="800" dirty="0"/>
              <a:t> </a:t>
            </a:r>
          </a:p>
          <a:p>
            <a:r>
              <a:rPr lang="pt-BR" sz="800" b="1" dirty="0"/>
              <a:t>3. O Laço de Somatório</a:t>
            </a:r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pPr marL="228600" indent="-228600">
              <a:buAutoNum type="arabicPeriod"/>
            </a:pPr>
            <a:endParaRPr lang="pt-BR" sz="800" b="1" dirty="0"/>
          </a:p>
          <a:p>
            <a:r>
              <a:rPr lang="pt-BR" sz="800" dirty="0"/>
              <a:t>Este laço percorre todas as amostras atualmente armazenadas na janela daquela frequência (freqIndex). Ele vai somando o valor de cada propriedade armazenada na matriz histórica windows. </a:t>
            </a:r>
          </a:p>
          <a:p>
            <a:endParaRPr lang="pt-BR" sz="800" dirty="0"/>
          </a:p>
          <a:p>
            <a:r>
              <a:rPr lang="pt-BR" sz="800" b="1" dirty="0"/>
              <a:t>4. Cálculo da Média e Retorno por Ponteiro</a:t>
            </a:r>
          </a:p>
          <a:p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r>
              <a:rPr lang="pt-BR" sz="800" dirty="0"/>
              <a:t>Finalmente, o código divide o somatório de cada parâmetro pela quantidade de amostras válidas (count), encontrando a média aritmética exata de cada um. </a:t>
            </a:r>
          </a:p>
          <a:p>
            <a:r>
              <a:rPr lang="pt-BR" sz="800" dirty="0"/>
              <a:t>O operador -&gt; (seta) indica que o resultado está sendo gravado diretamente no endereço de memória apontado por avg. Assim, quem chamou a função recebe de volta todos os dados atualizados com a média móvel. </a:t>
            </a:r>
          </a:p>
          <a:p>
            <a:r>
              <a:rPr lang="pt-BR" sz="800" dirty="0"/>
              <a:t> </a:t>
            </a:r>
          </a:p>
          <a:p>
            <a:r>
              <a:rPr lang="pt-BR" sz="800" b="1" dirty="0"/>
              <a:t>Como ela age no seu loop principal?</a:t>
            </a:r>
            <a:endParaRPr lang="pt-BR" sz="800" dirty="0"/>
          </a:p>
          <a:p>
            <a:r>
              <a:rPr lang="pt-BR" sz="800" dirty="0"/>
              <a:t>No seu loop(), toda vez que uma nova leitura do AD5933 é feita, ela é inserida no histórico. Logo em seguida, essa função é chamada: </a:t>
            </a:r>
          </a:p>
          <a:p>
            <a:endParaRPr lang="pt-BR" sz="800" dirty="0"/>
          </a:p>
          <a:p>
            <a:endParaRPr lang="pt-BR" sz="800" dirty="0"/>
          </a:p>
          <a:p>
            <a:endParaRPr lang="pt-BR" sz="800" b="1" dirty="0"/>
          </a:p>
          <a:p>
            <a:r>
              <a:rPr lang="pt-BR" sz="800" dirty="0"/>
              <a:t>O resultado impresso no Monitor Serial (avg.imp, avg.phase, etc.) não é apenas a leitura instantânea e ruidosa daquele segundo, mas sim o comportamento médio estabilizado dos últimos 5 ciclos de varredura.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E5F0831-D916-B60F-0580-73F22CADA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77" y="1503479"/>
            <a:ext cx="2462244" cy="157574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E63522C-8D48-3809-8C61-31DFB8D90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087" y="2062057"/>
            <a:ext cx="2178685" cy="11303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2B06F1F-ED5D-82D7-D3D7-993D30A1A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3087" y="2801770"/>
            <a:ext cx="2485390" cy="26352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4786299-F0E9-3EDC-CFAB-8874B47DED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3087" y="3729204"/>
            <a:ext cx="1521611" cy="62630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D62E35DA-3B0C-7682-EE61-5947A3C92B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0812" y="4758428"/>
            <a:ext cx="1235075" cy="52197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19A1DDCC-71B7-77EF-6C0E-18D6AA61BA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3087" y="6120822"/>
            <a:ext cx="1644650" cy="24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420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ECC07-6A06-B060-DD4D-519CC01EB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D02072-4EF4-36F0-A0BA-939401F73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3" y="421687"/>
            <a:ext cx="10515600" cy="1246858"/>
          </a:xfrm>
        </p:spPr>
        <p:txBody>
          <a:bodyPr/>
          <a:lstStyle/>
          <a:p>
            <a:r>
              <a:rPr lang="pt-B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Função initMovingAverageBuffers</a:t>
            </a:r>
            <a:r>
              <a:rPr lang="pt-BR" dirty="0"/>
              <a:t> </a:t>
            </a:r>
            <a:endParaRPr lang="pt-BR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2DC6E0F-FD9E-AC99-0E2C-9006FF6C0CD3}"/>
              </a:ext>
            </a:extLst>
          </p:cNvPr>
          <p:cNvSpPr txBox="1"/>
          <p:nvPr/>
        </p:nvSpPr>
        <p:spPr>
          <a:xfrm>
            <a:off x="2780341" y="1510065"/>
            <a:ext cx="9116703" cy="403187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800" dirty="0"/>
              <a:t>A função initMovingAverageBuffers() serve para </a:t>
            </a:r>
            <a:r>
              <a:rPr lang="pt-BR" sz="800" b="1" dirty="0"/>
              <a:t>limpar, zerar e inicializar todas as variáveis globais, tabelas de calibração e buffers de memória</a:t>
            </a:r>
            <a:r>
              <a:rPr lang="pt-BR" sz="800" dirty="0"/>
              <a:t> antes que o circuito comece a fazer as leituras de impedância. </a:t>
            </a:r>
          </a:p>
          <a:p>
            <a:r>
              <a:rPr lang="pt-BR" sz="800" dirty="0"/>
              <a:t>Em programação de microcontroladores (como o Arduino), quando criamos variáveis globais ou matrizes grandes, elas podem iniciar com valores residuais ("lixo de memória"). Essa função garante que o programa comece a rodar a partir de um estado totalmente limpo e previsível. </a:t>
            </a:r>
          </a:p>
          <a:p>
            <a:r>
              <a:rPr lang="pt-BR" sz="800" dirty="0"/>
              <a:t>Como o seu código faz uma varredura (sweep) de até 364 frequências diferentes (NUM_POINTS) , o microcontrolador precisa gerenciar uma quantidade massiva de dados. A função organiza essa estrutura através de um laço de repetição duplo (for aninhado). </a:t>
            </a:r>
          </a:p>
          <a:p>
            <a:r>
              <a:rPr lang="pt-BR" sz="800" dirty="0"/>
              <a:t> </a:t>
            </a:r>
          </a:p>
          <a:p>
            <a:pPr marL="228600" indent="-228600">
              <a:buAutoNum type="arabicPeriod"/>
            </a:pPr>
            <a:r>
              <a:rPr lang="pt-BR" sz="800" b="1" dirty="0"/>
              <a:t>O Laço Principal (for externo)</a:t>
            </a:r>
          </a:p>
          <a:p>
            <a:endParaRPr lang="pt-BR" sz="800" dirty="0"/>
          </a:p>
          <a:p>
            <a:endParaRPr lang="pt-BR" sz="800" b="1" dirty="0"/>
          </a:p>
          <a:p>
            <a:r>
              <a:rPr lang="pt-BR" sz="800" dirty="0"/>
              <a:t>Este laço vai rodar </a:t>
            </a:r>
            <a:r>
              <a:rPr lang="pt-BR" sz="800" b="1" dirty="0"/>
              <a:t>364 vezes</a:t>
            </a:r>
            <a:r>
              <a:rPr lang="pt-BR" sz="800" dirty="0"/>
              <a:t> (de 0 a 363), passando por cada uma das posições de frequência indexadas na sua varredura. Para cada uma dessas frequências, ele executa as seguintes limpezas: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windowIndices[i] = 0; Zera o ponteiro de posição da janela circular. Esse índice controla em qual gaveta da média móvel (de 0 a 4) a próxima leitura analógica capturada será salva.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windowCounts[i] = 0; Zera o contador de amostras acumuladas para aquela frequência. Isso avisa à função calculateMovingAverage que ainda não existem leituras históricas guardadas ali, impedindo cálculos matemáticos errados logo no início.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gainFactorTable[i] = 0.0;</a:t>
            </a:r>
            <a:r>
              <a:rPr lang="pt-BR" sz="800" b="1" dirty="0"/>
              <a:t> e </a:t>
            </a:r>
            <a:r>
              <a:rPr lang="pt-BR" sz="800" dirty="0"/>
              <a:t>phaseOffsetTableDeg[i] = 0.0; Reseta as tabelas de ganho e calibração de fase daquela posição. Elas iniciarão zeradas até que o sistema carregue os valores salvos da memória não-volátil (preferences) ou execute uma nova calibração física. </a:t>
            </a:r>
          </a:p>
          <a:p>
            <a:r>
              <a:rPr lang="pt-BR" sz="800" dirty="0"/>
              <a:t> </a:t>
            </a:r>
          </a:p>
          <a:p>
            <a:r>
              <a:rPr lang="pt-BR" sz="800" b="1" dirty="0"/>
              <a:t>2. O Laço Interno (for aninhado)</a:t>
            </a:r>
            <a:endParaRPr lang="pt-BR" sz="800" dirty="0"/>
          </a:p>
          <a:p>
            <a:endParaRPr lang="pt-BR" sz="800" b="1" dirty="0"/>
          </a:p>
          <a:p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r>
              <a:rPr lang="pt-BR" sz="800" dirty="0"/>
              <a:t>Para cada uma das 364 frequências (i), o código abre um segundo laço que roda </a:t>
            </a:r>
            <a:r>
              <a:rPr lang="pt-BR" sz="800" b="1" dirty="0"/>
              <a:t>5 vezes</a:t>
            </a:r>
            <a:r>
              <a:rPr lang="pt-BR" sz="800" dirty="0"/>
              <a:t> (WINDOW_SIZE). Ele entra na matriz bidimensional windows e zera completamente a estrutura de dados (Impedância, Fase, Real, Imaginário e Magnitude) de cada uma das 5 posições históricas de leitura. </a:t>
            </a:r>
          </a:p>
          <a:p>
            <a:endParaRPr lang="pt-BR" sz="800" dirty="0"/>
          </a:p>
          <a:p>
            <a:r>
              <a:rPr lang="pt-BR" sz="800" b="1" dirty="0"/>
              <a:t>Onde ela é usada no seu código?</a:t>
            </a:r>
            <a:endParaRPr lang="pt-BR" sz="800" dirty="0"/>
          </a:p>
          <a:p>
            <a:r>
              <a:rPr lang="pt-BR" sz="800" dirty="0"/>
              <a:t>Ela é chamada uma única vez, logo no início da função setup():</a:t>
            </a:r>
          </a:p>
          <a:p>
            <a:r>
              <a:rPr lang="pt-BR" sz="800" dirty="0"/>
              <a:t> </a:t>
            </a:r>
          </a:p>
          <a:p>
            <a:r>
              <a:rPr lang="pt-BR" sz="800" dirty="0"/>
              <a:t>Ao rodar essa função logo na inicialização, o código garante que a memória RAM do chip está perfeitamente preparada e estruturada para receber os primeiros dados do AD5933 sem qualquer interferência de dados antigos. </a:t>
            </a:r>
          </a:p>
          <a:p>
            <a:endParaRPr lang="pt-BR" sz="8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2AF05C0-C058-B7B1-C63E-0F7E14601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3" y="1531537"/>
            <a:ext cx="2143760" cy="130746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E4D1D59-947C-B45C-179D-98E370FEB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1339" y="2534268"/>
            <a:ext cx="1668145" cy="13208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37EBBA1-F7D8-67B1-31DA-62B724F27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3087" y="3762749"/>
            <a:ext cx="1812290" cy="36322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5BB15E1-FAC2-B441-B37C-A8613F1929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3087" y="4736764"/>
            <a:ext cx="1323975" cy="10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895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87B3B-BD81-0FDC-EAA3-FC83BB7EE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C2326C-C7D6-6CFC-9C60-DE5BD22A6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3" y="421687"/>
            <a:ext cx="10515600" cy="487531"/>
          </a:xfrm>
        </p:spPr>
        <p:txBody>
          <a:bodyPr>
            <a:normAutofit fontScale="90000"/>
          </a:bodyPr>
          <a:lstStyle/>
          <a:p>
            <a:r>
              <a:rPr lang="pt-B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Função loadCalibration</a:t>
            </a:r>
            <a:r>
              <a:rPr lang="pt-BR" dirty="0"/>
              <a:t> </a:t>
            </a:r>
            <a:endParaRPr lang="pt-BR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0D26240-2DA0-74EB-8F54-FD0D8D501638}"/>
              </a:ext>
            </a:extLst>
          </p:cNvPr>
          <p:cNvSpPr txBox="1"/>
          <p:nvPr/>
        </p:nvSpPr>
        <p:spPr>
          <a:xfrm>
            <a:off x="2703390" y="1084244"/>
            <a:ext cx="9116703" cy="557607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800" dirty="0"/>
              <a:t>A função </a:t>
            </a:r>
            <a:r>
              <a:rPr lang="pt-BR" sz="800" b="1" dirty="0"/>
              <a:t>loadCalibration</a:t>
            </a:r>
            <a:r>
              <a:rPr lang="pt-BR" sz="800" dirty="0"/>
              <a:t>() serve para </a:t>
            </a:r>
            <a:r>
              <a:rPr lang="pt-BR" sz="800" b="1" dirty="0"/>
              <a:t>carregar os dados de calibração (Fator de Ganho e Deslocamento de Fase) salvos na memória não-volátil do microcontrolador</a:t>
            </a:r>
            <a:r>
              <a:rPr lang="pt-BR" sz="800" dirty="0"/>
              <a:t>. </a:t>
            </a:r>
          </a:p>
          <a:p>
            <a:r>
              <a:rPr lang="pt-BR" sz="800" dirty="0"/>
              <a:t>No ESP32, a biblioteca Preferences é usada para guardar informações na memória Flash (NVS - </a:t>
            </a:r>
            <a:r>
              <a:rPr lang="pt-BR" sz="800" i="1" dirty="0"/>
              <a:t>Non-Volatile Storage</a:t>
            </a:r>
            <a:r>
              <a:rPr lang="pt-BR" sz="800" dirty="0"/>
              <a:t>). Isso significa que, mesmo se você desligar a placa ou faltar energia, os dados de calibração não serão perdidos. Quando o circuito liga novamente, essa função recupera os valores para que você não precise calibrar o chip AD5933 toda vez que reiniciar o sistema. </a:t>
            </a:r>
          </a:p>
          <a:p>
            <a:r>
              <a:rPr lang="pt-BR" sz="800" dirty="0"/>
              <a:t> </a:t>
            </a:r>
          </a:p>
          <a:p>
            <a:r>
              <a:rPr lang="pt-BR" sz="800" b="1" dirty="0"/>
              <a:t>1. Abrindo o espaço de memória</a:t>
            </a:r>
            <a:endParaRPr lang="pt-BR" sz="800" dirty="0"/>
          </a:p>
          <a:p>
            <a:endParaRPr lang="pt-BR" sz="800" b="1" dirty="0"/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800" kern="0" dirty="0">
                <a:solidFill>
                  <a:srgbClr val="1F1F1F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 comando begin abre uma "pasta" ou "espaço de nomes" na memória chamado "ad5933". O segundo parâmetro true significa que este espaço está sendo aberto em </a:t>
            </a:r>
            <a:r>
              <a:rPr lang="pt-BR" sz="800" b="1" kern="0" dirty="0">
                <a:solidFill>
                  <a:srgbClr val="1F1F1F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modo de leitura (Read-Only)</a:t>
            </a:r>
            <a:r>
              <a:rPr lang="pt-BR" sz="800" kern="0" dirty="0">
                <a:solidFill>
                  <a:srgbClr val="1F1F1F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Como queremos apenas extrair dados e não modificar nada, esse modo protege a memória contra gravações acidentais. </a:t>
            </a:r>
            <a:endParaRPr lang="pt-B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sz="800" dirty="0"/>
              <a:t> </a:t>
            </a:r>
            <a:r>
              <a:rPr lang="pt-BR" sz="800" b="1" dirty="0"/>
              <a:t>2. O Laço de recuperação</a:t>
            </a:r>
            <a:endParaRPr lang="pt-BR" sz="800" dirty="0"/>
          </a:p>
          <a:p>
            <a:endParaRPr lang="pt-BR" sz="800" b="1" dirty="0"/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800" kern="0" dirty="0">
                <a:solidFill>
                  <a:srgbClr val="1F1F1F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Este laço vai rodar </a:t>
            </a:r>
            <a:r>
              <a:rPr lang="pt-BR" sz="800" b="1" kern="0" dirty="0">
                <a:solidFill>
                  <a:srgbClr val="1F1F1F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364 vezes</a:t>
            </a:r>
            <a:r>
              <a:rPr lang="pt-BR" sz="800" kern="0" dirty="0">
                <a:solidFill>
                  <a:srgbClr val="1F1F1F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(NUM_POINTS). Ele precisa recuperar os valores de calibração específicos para cada uma das frequências da varredura. </a:t>
            </a:r>
            <a:endParaRPr lang="pt-B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800" kern="0" dirty="0">
                <a:solidFill>
                  <a:srgbClr val="1F1F1F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r>
              <a:rPr lang="pt-BR" sz="800" b="1" kern="0" dirty="0">
                <a:solidFill>
                  <a:srgbClr val="1F1F1F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3. Gerando as Chaves de Acesso Únicas</a:t>
            </a:r>
            <a:endParaRPr lang="pt-B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800" kern="0" dirty="0">
                <a:solidFill>
                  <a:srgbClr val="1F1F1F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memória Preferences funciona guardando dados no formato de par </a:t>
            </a:r>
            <a:r>
              <a:rPr lang="pt-BR" sz="800" b="1" kern="0" dirty="0">
                <a:solidFill>
                  <a:srgbClr val="1F1F1F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Chave e Valor</a:t>
            </a:r>
            <a:r>
              <a:rPr lang="pt-BR" sz="800" kern="0" dirty="0">
                <a:solidFill>
                  <a:srgbClr val="1F1F1F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(como um dicionário). No entanto, as chaves no ESP32 têm um limite estrito de até 15 caracteres. A função snprintf monta dinamicamente o nome da chave para cada ponto i de forma bem curta: </a:t>
            </a:r>
            <a:endParaRPr lang="pt-B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Se i = 0, as chaves geradas serão "g000" (para o ganho) e "p000" (para a fase).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Se i = 153, as chaves geradas serão "g153" e "p153".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pt-BR" sz="800" dirty="0"/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800" b="1" kern="0" dirty="0">
                <a:solidFill>
                  <a:srgbClr val="1F1F1F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4. Lendo os Valores da Memória Flash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pt-BR" sz="800" kern="0" dirty="0">
              <a:solidFill>
                <a:srgbClr val="1F1F1F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800" kern="0" dirty="0">
                <a:solidFill>
                  <a:srgbClr val="1F1F1F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 código usa o comando getDouble para buscar o número decimal (tipo double) guardado sob aquela chave específica e salvá-lo na tabela correspondente da memória RAM (gainFactorTable e phaseOffsetTableDeg). </a:t>
            </a:r>
            <a:endParaRPr lang="pt-B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800" b="1" kern="0" dirty="0">
                <a:solidFill>
                  <a:srgbClr val="1F1F1F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 valor </a:t>
            </a:r>
            <a:r>
              <a:rPr lang="pt-BR" sz="800" kern="0" dirty="0">
                <a:solidFill>
                  <a:srgbClr val="1F1F1F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0.0</a:t>
            </a:r>
            <a:r>
              <a:rPr lang="pt-BR" sz="800" b="1" kern="0" dirty="0">
                <a:solidFill>
                  <a:srgbClr val="1F1F1F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no final:</a:t>
            </a:r>
            <a:r>
              <a:rPr lang="pt-BR" sz="800" kern="0" dirty="0">
                <a:solidFill>
                  <a:srgbClr val="1F1F1F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Este é o valor padrão (</a:t>
            </a:r>
            <a:r>
              <a:rPr lang="pt-BR" sz="800" i="1" kern="0" dirty="0">
                <a:solidFill>
                  <a:srgbClr val="1F1F1F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default</a:t>
            </a:r>
            <a:r>
              <a:rPr lang="pt-BR" sz="800" kern="0" dirty="0">
                <a:solidFill>
                  <a:srgbClr val="1F1F1F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). Se for a primeiríssima vez que o código roda e a memória estiver completamente vazia (sem nenhuma calibração salva ainda), a função retornará automaticamente 0.0.  </a:t>
            </a:r>
            <a:endParaRPr lang="pt-B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800" b="1" kern="0" dirty="0">
                <a:solidFill>
                  <a:srgbClr val="1F1F1F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5. Fechando o Acesso à Memória</a:t>
            </a:r>
          </a:p>
          <a:p>
            <a:r>
              <a:rPr lang="pt-BR" sz="800" dirty="0"/>
              <a:t>Finaliza a sessão com a biblioteca Preferences. É uma boa prática de programação para liberar recursos do sistema e fechar com segurança o arquivo de dados da memória Flash. </a:t>
            </a:r>
          </a:p>
          <a:p>
            <a:r>
              <a:rPr lang="pt-BR" sz="800" dirty="0"/>
              <a:t> </a:t>
            </a:r>
          </a:p>
          <a:p>
            <a:r>
              <a:rPr lang="pt-BR" sz="800" b="1" dirty="0"/>
              <a:t>Como ela interage com o resto do código?</a:t>
            </a:r>
            <a:endParaRPr lang="pt-BR" sz="800" dirty="0"/>
          </a:p>
          <a:p>
            <a:r>
              <a:rPr lang="pt-BR" sz="800" dirty="0"/>
              <a:t>Logo no setup(), após inicializar as variáveis, a função é chamada:</a:t>
            </a:r>
          </a:p>
          <a:p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800" dirty="0"/>
              <a:t>Se a função carregar os dados com sucesso, a tabela de ganhos terá valores válidos maiores que zero, e o programa pulará a calibração demorada, indo direto para a leitura do sensor. Se ela carregar tudo como 0.0 (indicando que nunca foi calibrado), o sistema entende que precisa rodar a rotina de calibração física e depois salvar os resultados através da função irmã saveCalibration().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7F18EC6-94AD-96D8-0371-C08F3DB35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3" y="1084244"/>
            <a:ext cx="2289397" cy="107245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7478BAF-7367-1A8B-EB46-9A60DB4E9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577" y="1760361"/>
            <a:ext cx="1626870" cy="11620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B3A12588-230B-A02C-4809-D6D17651A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5923" y="2372112"/>
            <a:ext cx="1781175" cy="10350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3273C40-AB5E-F599-FFF3-50C488CAFD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8577" y="2895588"/>
            <a:ext cx="1725295" cy="40767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40A1D236-EE78-2502-AAE4-C6CF515483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8577" y="4261548"/>
            <a:ext cx="2125345" cy="16256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052D62B-B71D-795F-1B12-2ACC627BE2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5923" y="5326835"/>
            <a:ext cx="813435" cy="111125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7F0A8A0-5E6E-1510-432A-667736BF4F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5923" y="5984169"/>
            <a:ext cx="1342390" cy="22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865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40492-B90D-A516-5BA7-DCB65105D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53B976-51BB-C9D1-833C-312F50130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3" y="421687"/>
            <a:ext cx="10515600" cy="487531"/>
          </a:xfrm>
        </p:spPr>
        <p:txBody>
          <a:bodyPr>
            <a:normAutofit fontScale="90000"/>
          </a:bodyPr>
          <a:lstStyle/>
          <a:p>
            <a:r>
              <a:rPr lang="pt-B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Função saveCalibration</a:t>
            </a:r>
            <a:r>
              <a:rPr lang="pt-BR" dirty="0"/>
              <a:t>  </a:t>
            </a:r>
            <a:endParaRPr lang="pt-BR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C272B0B-256B-88C5-9289-258B43CCEFD3}"/>
              </a:ext>
            </a:extLst>
          </p:cNvPr>
          <p:cNvSpPr txBox="1"/>
          <p:nvPr/>
        </p:nvSpPr>
        <p:spPr>
          <a:xfrm>
            <a:off x="2703390" y="1084244"/>
            <a:ext cx="9116703" cy="501470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800" dirty="0"/>
              <a:t>A função </a:t>
            </a:r>
            <a:r>
              <a:rPr lang="pt-BR" sz="800" b="1" dirty="0"/>
              <a:t>saveCalibration()</a:t>
            </a:r>
            <a:r>
              <a:rPr lang="pt-BR" sz="800" dirty="0"/>
              <a:t> faz exatamente o oposto da função anterior: ela serve para </a:t>
            </a:r>
            <a:r>
              <a:rPr lang="pt-BR" sz="800" b="1" dirty="0"/>
              <a:t>salvar permanentemente os dados de calibração (Fator de Ganho e Deslocamento de Fase) na memória não-volátil (Flash) do ESP32</a:t>
            </a:r>
            <a:r>
              <a:rPr lang="pt-BR" sz="800" dirty="0"/>
              <a:t>. </a:t>
            </a:r>
          </a:p>
          <a:p>
            <a:r>
              <a:rPr lang="pt-BR" sz="800" dirty="0"/>
              <a:t>Quando o circuito realiza a calibração física (geralmente medindo um resistor conhecido de referência), ele calcula novos fatores de correção para cada frequência. Esta função pega esses valores que estão temporariamente na memória RAM e os grava no armazenamento do chip , garantindo que eles continuem lá mesmo depois que você desligar a placa. </a:t>
            </a:r>
          </a:p>
          <a:p>
            <a:r>
              <a:rPr lang="pt-BR" sz="800" b="1" dirty="0"/>
              <a:t>1. Abrindo o espaço de memória para escrita</a:t>
            </a:r>
            <a:endParaRPr lang="pt-BR" sz="800" dirty="0"/>
          </a:p>
          <a:p>
            <a:endParaRPr lang="pt-BR" sz="800" b="1" dirty="0"/>
          </a:p>
          <a:p>
            <a:r>
              <a:rPr lang="pt-BR" sz="800" dirty="0"/>
              <a:t>O comando begin abre o espaço de armazenamento chamado "ad5933". Repare que o segundo parâmetro agora é false. Isso indica que o espaço está sendo aberto em </a:t>
            </a:r>
            <a:r>
              <a:rPr lang="pt-BR" sz="800" b="1" dirty="0"/>
              <a:t>modo de leitura e escrita (Read-Write)</a:t>
            </a:r>
            <a:r>
              <a:rPr lang="pt-BR" sz="800" dirty="0"/>
              <a:t>. Sem esse parâmetro como false, o microcontrolador seria impedido de gravar qualquer dado novo. </a:t>
            </a:r>
          </a:p>
          <a:p>
            <a:endParaRPr lang="pt-BR" sz="800" dirty="0"/>
          </a:p>
          <a:p>
            <a:r>
              <a:rPr lang="pt-BR" sz="800" b="1" dirty="0"/>
              <a:t>2. O Laço de Gravação</a:t>
            </a:r>
            <a:endParaRPr lang="pt-BR" sz="800" dirty="0"/>
          </a:p>
          <a:p>
            <a:endParaRPr lang="pt-BR" sz="800" b="1" dirty="0"/>
          </a:p>
          <a:p>
            <a:r>
              <a:rPr lang="pt-BR" sz="800" dirty="0"/>
              <a:t>Um laço que roda </a:t>
            </a:r>
            <a:r>
              <a:rPr lang="pt-BR" sz="800" b="1" dirty="0"/>
              <a:t>364 vezes</a:t>
            </a:r>
            <a:r>
              <a:rPr lang="pt-BR" sz="800" dirty="0"/>
              <a:t> (NUM_POINTS), um para cada ponto de frequência da varredura, garantindo que o ganho e a fase de cada etapa sejam guardados individualmente. </a:t>
            </a:r>
          </a:p>
          <a:p>
            <a:endParaRPr lang="pt-BR" sz="800" dirty="0"/>
          </a:p>
          <a:p>
            <a:r>
              <a:rPr lang="pt-BR" sz="800" b="1" dirty="0"/>
              <a:t>3. Montando as Chaves Identificadoras</a:t>
            </a:r>
          </a:p>
          <a:p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r>
              <a:rPr lang="pt-BR" sz="800" dirty="0"/>
              <a:t>Assim como na leitura, a função recria o nome das chaves de texto exclusivas para cada índice i (ex: "g000" e "p000" para o primeiro ponto, "g001" e "p001" para o segundo, e assim por diante). Isso garante que os dados sejam salvos exatamente na "gaveta" correta de onde serão lidos depois. </a:t>
            </a:r>
          </a:p>
          <a:p>
            <a:endParaRPr lang="pt-BR" sz="800" dirty="0"/>
          </a:p>
          <a:p>
            <a:r>
              <a:rPr lang="pt-BR" sz="800" b="1" dirty="0"/>
              <a:t>4. Gravando na Memória Flash</a:t>
            </a:r>
            <a:endParaRPr lang="pt-BR" sz="800" dirty="0"/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pt-BR" sz="800" kern="0" dirty="0">
              <a:solidFill>
                <a:srgbClr val="1F1F1F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pt-BR" sz="800" dirty="0"/>
              <a:t>Aqui ocorre a gravação real. O comando putDouble pega o valor decimal (double) armazenado na memória RAM do circuito (gainFactorTable[i] e phaseOffsetTableDeg[i]) e o escreve fisicamente na memória estável do ESP32 sob a respectiva chave. Se já existia um valor antigo lá, ele é sobrescrito pelo novo. </a:t>
            </a:r>
          </a:p>
          <a:p>
            <a:endParaRPr lang="pt-BR" sz="800" dirty="0"/>
          </a:p>
          <a:p>
            <a:r>
              <a:rPr lang="pt-BR" sz="800" b="1" dirty="0"/>
              <a:t>5. Fechando e Salvando os Dados</a:t>
            </a:r>
          </a:p>
          <a:p>
            <a:endParaRPr lang="pt-BR" sz="800" dirty="0"/>
          </a:p>
          <a:p>
            <a:r>
              <a:rPr lang="pt-BR" sz="800" dirty="0"/>
              <a:t>Essa linha finaliza a sessão de escrita. No ESP32, o comando end() é fundamental na escrita porque ele força o sistema a garantir que todos os dados que estavam em um buffer temporário sejam efetivamente consolidados e "trancados" na memória Flash com segurança. </a:t>
            </a:r>
          </a:p>
          <a:p>
            <a:r>
              <a:rPr lang="pt-BR" sz="800" b="1" dirty="0"/>
              <a:t>Onde ela entra na lógica do programa?</a:t>
            </a:r>
            <a:endParaRPr lang="pt-BR" sz="800" dirty="0"/>
          </a:p>
          <a:p>
            <a:r>
              <a:rPr lang="pt-BR" sz="800" dirty="0"/>
              <a:t>Ela é chamada logo após uma rotina de calibração bem-sucedida, tanto no setup() quanto no loop():</a:t>
            </a:r>
          </a:p>
          <a:p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r>
              <a:rPr lang="pt-BR" sz="800" dirty="0"/>
              <a:t>Isso cria um fluxo inteligente: o aparelho só gasta tempo calibrando se for estritamente necessário (como na primeira vez que liga) e, uma vez feito, o saveCalibration() protege esse esforço salvando os dados para as próximas inicializações. 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4CA6DE4A-AE25-CD66-B09C-85E90D6F6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923" y="2372112"/>
            <a:ext cx="1781175" cy="10350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4017D27-63B1-56E8-10B5-41A0D8939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577" y="2847977"/>
            <a:ext cx="1725295" cy="40767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6249831-1452-1F77-F1D4-5C45ADFBA1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5641" y="4550471"/>
            <a:ext cx="813435" cy="11112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497D639-D4F3-90D8-8683-BE75FB2324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521" y="1084244"/>
            <a:ext cx="2327275" cy="122364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E30B531-7AC4-0108-9BB7-D64BAC5676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8577" y="1762403"/>
            <a:ext cx="1609090" cy="127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250DB16-4702-F34A-7244-1F00098B41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8577" y="3826004"/>
            <a:ext cx="2047875" cy="18478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E9F0610-9C92-8DF4-B1A5-752C2F22E9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8577" y="5183931"/>
            <a:ext cx="1755140" cy="42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432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46A2A-4240-9004-ECBE-7421DA6D0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DD9AD-28DF-3136-9C1F-32C0E90F9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3" y="421687"/>
            <a:ext cx="10515600" cy="487531"/>
          </a:xfrm>
        </p:spPr>
        <p:txBody>
          <a:bodyPr>
            <a:normAutofit fontScale="90000"/>
          </a:bodyPr>
          <a:lstStyle/>
          <a:p>
            <a:r>
              <a:rPr lang="pt-B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Função hasValidCalibration</a:t>
            </a:r>
            <a:r>
              <a:rPr lang="pt-BR" dirty="0"/>
              <a:t>  </a:t>
            </a:r>
            <a:endParaRPr lang="pt-BR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B34449D1-4167-1B15-9AA9-1927C1EA7A4E}"/>
                  </a:ext>
                </a:extLst>
              </p:cNvPr>
              <p:cNvSpPr txBox="1"/>
              <p:nvPr/>
            </p:nvSpPr>
            <p:spPr>
              <a:xfrm>
                <a:off x="2703390" y="1084244"/>
                <a:ext cx="9116703" cy="3992568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pt-BR" sz="800" dirty="0"/>
                  <a:t>A função hasValidCalibration() serve para </a:t>
                </a:r>
                <a:r>
                  <a:rPr lang="pt-BR" sz="800" b="1" dirty="0"/>
                  <a:t>verificar se a tabela de fatores de ganho possui valores válidos para todos os pontos da varredura de frequência atual</a:t>
                </a:r>
                <a:r>
                  <a:rPr lang="pt-BR" sz="800" dirty="0"/>
                  <a:t>. Ela atua como um guarda de segurança que valida se o sistema está pronto para realizar medições reais de impedância. </a:t>
                </a:r>
              </a:p>
              <a:p>
                <a:r>
                  <a:rPr lang="pt-BR" sz="800" dirty="0"/>
                  <a:t>Aqui está a explicação detalhada do funcionamento dela:</a:t>
                </a:r>
              </a:p>
              <a:p>
                <a:r>
                  <a:rPr lang="pt-BR" sz="800" b="1" dirty="0"/>
                  <a:t>1. O Laço de Verificação Condicional</a:t>
                </a:r>
                <a:endParaRPr lang="pt-BR" sz="800" dirty="0"/>
              </a:p>
              <a:p>
                <a:endParaRPr lang="pt-BR" sz="800" b="1" dirty="0"/>
              </a:p>
              <a:p>
                <a:r>
                  <a:rPr lang="pt-BR" sz="800" dirty="0"/>
                  <a:t>Este laço percorre os índices da tabela de calibração correspondentes às frequências que serão testadas na varredura. A condição do laço possui duas travas de segurança: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pt-BR" sz="800" dirty="0"/>
                  <a:t>i &lt;= numIncr: Garante que o código teste até o número máximo de incrementos configurados para o sweep (no seu código, numIncr é 360).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pt-BR" sz="800" dirty="0"/>
                  <a:t>i &lt; NUM_POINTS: É uma proteção para o array (buffer overflow). Garante que o índice nunca tente acessar uma posição além do tamanho máximo da tabela alocada na memória RAM (NUM_POINTS é 364).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endParaRPr lang="pt-BR" sz="800" dirty="0"/>
              </a:p>
              <a:p>
                <a:r>
                  <a:rPr lang="pt-BR" sz="800" b="1" dirty="0"/>
                  <a:t>2. O Teste do Fator de Ganho (Gain Factor)</a:t>
                </a:r>
                <a:endParaRPr lang="pt-BR" sz="800" dirty="0"/>
              </a:p>
              <a:p>
                <a:endParaRPr lang="pt-BR" sz="800" b="1" dirty="0"/>
              </a:p>
              <a:p>
                <a:endParaRPr lang="pt-BR" sz="800" b="1" dirty="0"/>
              </a:p>
              <a:p>
                <a:r>
                  <a:rPr lang="pt-BR" sz="800" dirty="0"/>
                  <a:t>Dentro do laço, o código analisa o fator de ganho armazenado para cada ponto de frequência. </a:t>
                </a:r>
              </a:p>
              <a:p>
                <a:pPr lvl="0"/>
                <a:r>
                  <a:rPr lang="pt-BR" sz="800" dirty="0"/>
                  <a:t>Matematicamente, o fator de ganho do AD5933 nunca pode ser zero ou negativo, pois ele é o resultado de uma divisão baseada na magnitude do sinal elétrico </a:t>
                </a:r>
                <a14:m>
                  <m:oMath xmlns:m="http://schemas.openxmlformats.org/officeDocument/2006/math">
                    <m:r>
                      <a:rPr lang="pt-BR" sz="800" i="1"/>
                      <m:t>𝐺𝑎𝑖𝑛</m:t>
                    </m:r>
                    <m:r>
                      <a:rPr lang="pt-BR" sz="800" i="1"/>
                      <m:t> </m:t>
                    </m:r>
                    <m:r>
                      <a:rPr lang="pt-BR" sz="800" i="1"/>
                      <m:t>𝐹𝑎𝑐𝑡𝑜𝑟</m:t>
                    </m:r>
                    <m:r>
                      <a:rPr lang="pt-BR" sz="800" i="1"/>
                      <m:t>=</m:t>
                    </m:r>
                    <m:f>
                      <m:fPr>
                        <m:ctrlPr>
                          <a:rPr lang="pt-BR" sz="800" i="1"/>
                        </m:ctrlPr>
                      </m:fPr>
                      <m:num>
                        <m:r>
                          <a:rPr lang="pt-BR" sz="800" i="1"/>
                          <m:t>1/</m:t>
                        </m:r>
                        <m:sSub>
                          <m:sSubPr>
                            <m:ctrlPr>
                              <a:rPr lang="pt-BR" sz="800" i="1"/>
                            </m:ctrlPr>
                          </m:sSubPr>
                          <m:e>
                            <m:r>
                              <a:rPr lang="pt-BR" sz="800" i="1"/>
                              <m:t>𝑅</m:t>
                            </m:r>
                          </m:e>
                          <m:sub>
                            <m:r>
                              <a:rPr lang="pt-BR" sz="800" i="1"/>
                              <m:t>𝑐𝑎𝑙</m:t>
                            </m:r>
                          </m:sub>
                        </m:sSub>
                      </m:num>
                      <m:den>
                        <m:r>
                          <a:rPr lang="pt-BR" sz="800" i="1"/>
                          <m:t>𝑀𝑎𝑔𝑛𝑖𝑡𝑢𝑑𝑒</m:t>
                        </m:r>
                      </m:den>
                    </m:f>
                  </m:oMath>
                </a14:m>
                <a:endParaRPr lang="pt-BR" sz="800" dirty="0"/>
              </a:p>
              <a:p>
                <a:pPr lvl="0"/>
                <a:r>
                  <a:rPr lang="pt-BR" sz="800" dirty="0"/>
                  <a:t>Se a função encontrar </a:t>
                </a:r>
                <a:r>
                  <a:rPr lang="pt-BR" sz="800" b="1" dirty="0"/>
                  <a:t>qualquer</a:t>
                </a:r>
                <a:r>
                  <a:rPr lang="pt-BR" sz="800" dirty="0"/>
                  <a:t> posição na tabela onde o valor seja menor ou igual a 0.0, significa que aquela frequência específica não foi calibrada (ou a calibração falhou/foi apagada). Nesse instante, a função interrompe o laço imediatamente e retorna false. </a:t>
                </a:r>
              </a:p>
              <a:p>
                <a:pPr lvl="0"/>
                <a:endParaRPr lang="pt-BR" sz="800" dirty="0"/>
              </a:p>
              <a:p>
                <a:r>
                  <a:rPr lang="pt-BR" sz="800" b="1" dirty="0"/>
                  <a:t>3. Confirmação de Sucesso</a:t>
                </a:r>
                <a:endParaRPr lang="pt-BR" sz="800" dirty="0"/>
              </a:p>
              <a:p>
                <a:endParaRPr lang="pt-BR" sz="800" dirty="0"/>
              </a:p>
              <a:p>
                <a:endParaRPr lang="pt-BR" sz="800" dirty="0"/>
              </a:p>
              <a:p>
                <a:endParaRPr lang="pt-BR" sz="800" dirty="0"/>
              </a:p>
              <a:p>
                <a:r>
                  <a:rPr lang="pt-BR" sz="800" dirty="0"/>
                  <a:t>Se o laço for terminar de analisar todos os pontos exigidos e nenhuma irregularidade for encontrada, significa que toda a extensão da varredura possui fatores de ganho válidos e positivos. A função então retorna true. </a:t>
                </a:r>
              </a:p>
              <a:p>
                <a:r>
                  <a:rPr lang="pt-BR" sz="800" b="1" dirty="0"/>
                  <a:t>Como ela direciona o fluxo do programa?</a:t>
                </a:r>
                <a:endParaRPr lang="pt-BR" sz="800" dirty="0"/>
              </a:p>
              <a:p>
                <a:r>
                  <a:rPr lang="pt-BR" sz="800" dirty="0"/>
                  <a:t>Esta função é o "gatilho" que decide se o circuito deve trabalhar ou calibrar. Ela é chamada em dois lugares cruciais: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pt-BR" sz="800" b="1" dirty="0"/>
                  <a:t>No </a:t>
                </a:r>
                <a:r>
                  <a:rPr lang="pt-BR" sz="800" dirty="0"/>
                  <a:t>setup()</a:t>
                </a:r>
                <a:r>
                  <a:rPr lang="pt-BR" sz="800" b="1" dirty="0"/>
                  <a:t>:</a:t>
                </a:r>
                <a:r>
                  <a:rPr lang="pt-BR" sz="800" dirty="0"/>
                  <a:t> Logo após tentar carregar a calibração da memória Flash (loadCalibration()), o código testa if (!hasValidCalibration()). Se o retorno for falso, o visor/terminal avisa que vai realizar um sweep de calibração completo antes de começar.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pt-BR" sz="800" b="1" dirty="0"/>
                  <a:t>No </a:t>
                </a:r>
                <a:r>
                  <a:rPr lang="pt-BR" sz="800" dirty="0"/>
                  <a:t>loop()</a:t>
                </a:r>
                <a:r>
                  <a:rPr lang="pt-BR" sz="800" b="1" dirty="0"/>
                  <a:t>:</a:t>
                </a:r>
                <a:r>
                  <a:rPr lang="pt-BR" sz="800" dirty="0"/>
                  <a:t> Antes de iniciar cada nova varredura de medição, o programa checa novamente se a calibração permanece válida. Se por algum motivo os dados sumirem ou estiverem zerados, o loop é interrompido para forçar uma recalibração. 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endParaRPr lang="pt-BR" sz="800" kern="0" dirty="0">
                  <a:solidFill>
                    <a:srgbClr val="1F1F1F"/>
                  </a:solidFill>
                  <a:effectLst/>
                  <a:latin typeface="Aptos Display" panose="020B00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B34449D1-4167-1B15-9AA9-1927C1EA7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3390" y="1084244"/>
                <a:ext cx="9116703" cy="39925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m 2">
            <a:extLst>
              <a:ext uri="{FF2B5EF4-FFF2-40B4-BE49-F238E27FC236}">
                <a16:creationId xmlns:a16="http://schemas.microsoft.com/office/drawing/2014/main" id="{04CCE2BB-D9D7-B79D-B220-A163CE0D7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43" y="1084244"/>
            <a:ext cx="2350229" cy="59201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6180960-24E0-2725-24DB-3842376A74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5923" y="1617330"/>
            <a:ext cx="2190750" cy="13652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3750A131-D3FF-3560-71D7-C58F9529E3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5641" y="2499616"/>
            <a:ext cx="1935480" cy="126365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8A559BC3-244F-1C2A-FB0D-E0AC44CA72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5923" y="3520916"/>
            <a:ext cx="640715" cy="13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472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13B06-B789-6C12-BE74-80E0B5E29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8271DD-3A11-3EF4-D87E-40F939183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3" y="421687"/>
            <a:ext cx="10515600" cy="487531"/>
          </a:xfrm>
        </p:spPr>
        <p:txBody>
          <a:bodyPr>
            <a:normAutofit fontScale="90000"/>
          </a:bodyPr>
          <a:lstStyle/>
          <a:p>
            <a:r>
              <a:rPr lang="pt-B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Função resetSweep</a:t>
            </a:r>
            <a:r>
              <a:rPr lang="pt-BR" dirty="0"/>
              <a:t>  </a:t>
            </a:r>
            <a:endParaRPr lang="pt-BR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F001F97-50BA-76B6-501C-B9AE380DF121}"/>
              </a:ext>
            </a:extLst>
          </p:cNvPr>
          <p:cNvSpPr txBox="1"/>
          <p:nvPr/>
        </p:nvSpPr>
        <p:spPr>
          <a:xfrm>
            <a:off x="2703390" y="1084244"/>
            <a:ext cx="9116703" cy="430188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800" dirty="0"/>
              <a:t>A função resetSweep() serve para </a:t>
            </a:r>
            <a:r>
              <a:rPr lang="pt-BR" sz="800" b="1" dirty="0"/>
              <a:t>reiniciar completamente o estado do gerador de varredura (sweep) interno do AD5933</a:t>
            </a:r>
            <a:r>
              <a:rPr lang="pt-BR" sz="800" dirty="0"/>
              <a:t>, limpando qualquer operação anterior e colocando o chip em modo de espera (Standby). </a:t>
            </a:r>
          </a:p>
          <a:p>
            <a:r>
              <a:rPr lang="pt-BR" sz="800" dirty="0"/>
              <a:t>Quando trabalhamos com o AD5933, antes de iniciar uma nova varredura de frequências, é necessário preparar o hardware limpando os registradores de controle e forçando o chip a emitir a frequência inicial na sua saída analógica para estabilizar o circuito. Esta função faz exatamente essa sequência de "limpeza" e preparação através do registrador de controle principal (0x80).</a:t>
            </a:r>
          </a:p>
          <a:p>
            <a:endParaRPr lang="pt-BR" sz="800" dirty="0"/>
          </a:p>
          <a:p>
            <a:pPr marL="228600" indent="-228600">
              <a:buAutoNum type="arabicPeriod"/>
            </a:pPr>
            <a:r>
              <a:rPr lang="pt-BR" sz="800" b="1" dirty="0"/>
              <a:t>Primeiro Reset / Standby</a:t>
            </a:r>
          </a:p>
          <a:p>
            <a:endParaRPr lang="pt-BR" sz="800" dirty="0"/>
          </a:p>
          <a:p>
            <a:endParaRPr lang="pt-BR" sz="800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b="1" dirty="0"/>
              <a:t>O Comando (</a:t>
            </a:r>
            <a:r>
              <a:rPr lang="pt-BR" sz="800" dirty="0"/>
              <a:t>0x10</a:t>
            </a:r>
            <a:r>
              <a:rPr lang="pt-BR" sz="800" b="1" dirty="0"/>
              <a:t>):</a:t>
            </a:r>
            <a:r>
              <a:rPr lang="pt-BR" sz="800" dirty="0"/>
              <a:t> Envia o comando de </a:t>
            </a:r>
            <a:r>
              <a:rPr lang="pt-BR" sz="800" b="1" dirty="0"/>
              <a:t>Standby</a:t>
            </a:r>
            <a:r>
              <a:rPr lang="pt-BR" sz="800" dirty="0"/>
              <a:t> para o registrador de controle 0x80. Isso desativa temporariamente a geração de sinal do chip e coloca o circuito interno em modo de baixo consumo.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b="1" dirty="0"/>
              <a:t>O Delay (50ms):</a:t>
            </a:r>
            <a:r>
              <a:rPr lang="pt-BR" sz="800" dirty="0"/>
              <a:t> Dá um tempo curto para o hardware processar o comando e interromper qualquer leitura ou oscilação que estivesse ativa.</a:t>
            </a:r>
          </a:p>
          <a:p>
            <a:pPr lvl="0"/>
            <a:endParaRPr lang="pt-BR" sz="800" dirty="0"/>
          </a:p>
          <a:p>
            <a:r>
              <a:rPr lang="pt-BR" sz="800" b="1" dirty="0"/>
              <a:t>2. Inicialização com a Frequência Inicial</a:t>
            </a:r>
            <a:endParaRPr lang="pt-BR" sz="800" dirty="0"/>
          </a:p>
          <a:p>
            <a:endParaRPr lang="pt-BR" sz="800" b="1" dirty="0"/>
          </a:p>
          <a:p>
            <a:endParaRPr lang="pt-BR" sz="800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b="1" dirty="0"/>
              <a:t>O Comando (</a:t>
            </a:r>
            <a:r>
              <a:rPr lang="pt-BR" sz="800" dirty="0"/>
              <a:t>0xB0</a:t>
            </a:r>
            <a:r>
              <a:rPr lang="pt-BR" sz="800" b="1" dirty="0"/>
              <a:t>):</a:t>
            </a:r>
            <a:r>
              <a:rPr lang="pt-BR" sz="800" dirty="0"/>
              <a:t> Envia o comando </a:t>
            </a:r>
            <a:r>
              <a:rPr lang="pt-BR" sz="800" b="1" dirty="0"/>
              <a:t>Initialize with Start Frequency</a:t>
            </a:r>
            <a:r>
              <a:rPr lang="pt-BR" sz="800" dirty="0"/>
              <a:t> (Inicializar com a Frequência Inicial). Este passo é crucial: ele diz ao AD5933 para pegar o valor de frequência que você configurou como inicial (no seu caso, 10.000 Hz) e começar a gerá-la ativamente no pino de saída (VOUT).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b="1" dirty="0"/>
              <a:t>O Delay (50ms):</a:t>
            </a:r>
            <a:r>
              <a:rPr lang="pt-BR" sz="800" dirty="0"/>
              <a:t> Esse tempo permite que a onda senoidal gerada na saída se estabilize e que quaisquer capacitores ou componentes do circuito externo alcancem o regime permanente antes de começarmos a medir.</a:t>
            </a:r>
          </a:p>
          <a:p>
            <a:pPr lvl="0"/>
            <a:endParaRPr lang="pt-BR" sz="800" dirty="0"/>
          </a:p>
          <a:p>
            <a:r>
              <a:rPr lang="pt-BR" sz="800" b="1" dirty="0"/>
              <a:t>3. Retorno ao Estado de Espera Controlado</a:t>
            </a:r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O código envia novamente o comando de </a:t>
            </a:r>
            <a:r>
              <a:rPr lang="pt-BR" sz="800" b="1" dirty="0"/>
              <a:t>Standby</a:t>
            </a:r>
            <a:r>
              <a:rPr lang="pt-BR" sz="800" dirty="0"/>
              <a:t> (0x10). Isso garante que o chip volte a um estado "neutro", zerando os ponteiros internos de incremento de frequência (o contador de passos volta para zero).</a:t>
            </a:r>
          </a:p>
          <a:p>
            <a:r>
              <a:rPr lang="pt-BR" sz="800" b="1" dirty="0"/>
              <a:t>Onde ela é usada no seu código?</a:t>
            </a:r>
            <a:endParaRPr lang="pt-BR" sz="800" dirty="0"/>
          </a:p>
          <a:p>
            <a:r>
              <a:rPr lang="pt-BR" sz="800" dirty="0"/>
              <a:t>Você vai notar que ela é chamada imediatamente antes de começar qualquer varredura real, tanto na função calibrateSweep() quanto no loop() principal: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pt-BR" sz="800" kern="0" dirty="0">
              <a:solidFill>
                <a:srgbClr val="1F1F1F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pt-BR" sz="800" kern="0" dirty="0">
              <a:solidFill>
                <a:srgbClr val="1F1F1F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800" dirty="0"/>
              <a:t>Sem essa sequência de reset, se você tentasse rodar o loop() uma segunda vez, o AD5933 continuaria preso na última frequência do sweep anterior (frequência final) ou daria erro por não ter reiniciado o seu contador interno de passos (numIncr).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pt-BR" sz="800" kern="0" dirty="0">
              <a:solidFill>
                <a:srgbClr val="1F1F1F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6F2857F-AD8F-72D1-09CE-37E1F6127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3" y="1103008"/>
            <a:ext cx="1004570" cy="79819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82B99B1-C8C7-A32E-DCD8-E753B395F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5641" y="1864627"/>
            <a:ext cx="925830" cy="20383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1CF2EBD-219E-984E-9028-3963A3832C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5641" y="2592759"/>
            <a:ext cx="884555" cy="20193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76940AF-2CD9-0934-9CEB-D0AE8698D3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9453" y="3574351"/>
            <a:ext cx="836930" cy="18478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11AE553-9448-36CD-A9C3-7D4F7A1B0E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9453" y="4357188"/>
            <a:ext cx="2612390" cy="18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880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32A76-ECEE-8986-CB1B-200F336EE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56F23A-4F6F-025B-AB53-96E520A35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3" y="421687"/>
            <a:ext cx="10515600" cy="487531"/>
          </a:xfrm>
        </p:spPr>
        <p:txBody>
          <a:bodyPr>
            <a:normAutofit fontScale="90000"/>
          </a:bodyPr>
          <a:lstStyle/>
          <a:p>
            <a:r>
              <a:rPr lang="pt-B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Função startSweep</a:t>
            </a:r>
            <a:r>
              <a:rPr lang="pt-BR" dirty="0"/>
              <a:t>  </a:t>
            </a:r>
            <a:endParaRPr lang="pt-BR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BAF1D95-1EC5-CA49-AF88-737D96148AD8}"/>
              </a:ext>
            </a:extLst>
          </p:cNvPr>
          <p:cNvSpPr txBox="1"/>
          <p:nvPr/>
        </p:nvSpPr>
        <p:spPr>
          <a:xfrm>
            <a:off x="2703390" y="1084244"/>
            <a:ext cx="9116703" cy="476848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800" dirty="0"/>
              <a:t>A função </a:t>
            </a:r>
            <a:r>
              <a:rPr lang="pt-BR" sz="800" b="1" dirty="0"/>
              <a:t>startSweep</a:t>
            </a:r>
            <a:r>
              <a:rPr lang="pt-BR" sz="800" dirty="0"/>
              <a:t>() serve para </a:t>
            </a:r>
            <a:r>
              <a:rPr lang="pt-BR" sz="800" b="1" dirty="0"/>
              <a:t>dar o pontapé inicial e disparar a varredura (sweep) de frequências programada no AD5933</a:t>
            </a:r>
            <a:r>
              <a:rPr lang="pt-BR" sz="800" dirty="0"/>
              <a:t>. Enquanto a função anterior (resetSweep) limpava e preparava o terreno , esta função executa a sequência exata de comandos exigida pelo datasheet do chip para fazer a varredura começar a acontecer na prática. </a:t>
            </a:r>
          </a:p>
          <a:p>
            <a:r>
              <a:rPr lang="pt-BR" sz="800" dirty="0"/>
              <a:t>Aqui está a explicação detalhada do que cada comando faz no registrador de controle (0x80):</a:t>
            </a:r>
          </a:p>
          <a:p>
            <a:endParaRPr lang="pt-BR" sz="800" dirty="0"/>
          </a:p>
          <a:p>
            <a:r>
              <a:rPr lang="pt-BR" sz="800" b="1" dirty="0"/>
              <a:t>1. Inicialização com a Frequência Inicial</a:t>
            </a:r>
            <a:endParaRPr lang="pt-BR" sz="800" dirty="0"/>
          </a:p>
          <a:p>
            <a:endParaRPr lang="pt-BR" sz="800" dirty="0"/>
          </a:p>
          <a:p>
            <a:endParaRPr lang="pt-BR" sz="800" b="1" dirty="0"/>
          </a:p>
          <a:p>
            <a:endParaRPr lang="pt-BR" sz="800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b="1" dirty="0"/>
              <a:t>O Comando (</a:t>
            </a:r>
            <a:r>
              <a:rPr lang="pt-BR" sz="800" dirty="0"/>
              <a:t>0xB0</a:t>
            </a:r>
            <a:r>
              <a:rPr lang="pt-BR" sz="800" b="1" dirty="0"/>
              <a:t>):</a:t>
            </a:r>
            <a:r>
              <a:rPr lang="pt-BR" sz="800" dirty="0"/>
              <a:t> Coloca o chip no modo </a:t>
            </a:r>
            <a:r>
              <a:rPr lang="pt-BR" sz="800" i="1" dirty="0"/>
              <a:t>Initialize with Start Frequency</a:t>
            </a:r>
            <a:r>
              <a:rPr lang="pt-BR" sz="800" dirty="0"/>
              <a:t>. O AD5933 começa a gerar a frequência inicial (10 kHz) em seu pino de saída analógica.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b="1" dirty="0"/>
              <a:t>O Delay (50ms):</a:t>
            </a:r>
            <a:r>
              <a:rPr lang="pt-BR" sz="800" dirty="0"/>
              <a:t> Aguarda um tempo para que o sinal senoidal se estabilize no circuito externo (na carga ou objeto que você está medindo).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pt-BR" sz="800" dirty="0"/>
          </a:p>
          <a:p>
            <a:r>
              <a:rPr lang="pt-BR" sz="800" b="1" dirty="0"/>
              <a:t>2. Ativação do Modo de Varredura (Start Frequency Sweep)</a:t>
            </a:r>
            <a:endParaRPr lang="pt-BR" sz="800" dirty="0"/>
          </a:p>
          <a:p>
            <a:endParaRPr lang="pt-BR" sz="800" b="1" dirty="0"/>
          </a:p>
          <a:p>
            <a:endParaRPr lang="pt-BR" sz="800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b="1" dirty="0"/>
              <a:t>O Comando (</a:t>
            </a:r>
            <a:r>
              <a:rPr lang="pt-BR" sz="800" dirty="0"/>
              <a:t>0x11</a:t>
            </a:r>
            <a:r>
              <a:rPr lang="pt-BR" sz="800" b="1" dirty="0"/>
              <a:t>):</a:t>
            </a:r>
            <a:r>
              <a:rPr lang="pt-BR" sz="800" dirty="0"/>
              <a:t> Este é o comando principal. Ele altera o estado do chip para </a:t>
            </a:r>
            <a:r>
              <a:rPr lang="pt-BR" sz="800" i="1" dirty="0"/>
              <a:t>Start Frequency Sweep</a:t>
            </a:r>
            <a:r>
              <a:rPr lang="pt-BR" sz="800" dirty="0"/>
              <a:t>. A partir deste momento, o núcleo DFT (Transformada Discreta de Fourier) do AD5933 é ativado e o chip se prepara para começar a medir a resposta do sinal elétrico que está retornando pelos pinos de entrada.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b="1" dirty="0"/>
              <a:t>O Delay (100ms):</a:t>
            </a:r>
            <a:r>
              <a:rPr lang="pt-BR" sz="800" dirty="0"/>
              <a:t> Dá uma pausa ligeiramente maior para garantir que o circuito interno de amostragem e os filtros do chip estejam operando em sincronia com o sinal.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pt-BR" sz="800" dirty="0"/>
          </a:p>
          <a:p>
            <a:r>
              <a:rPr lang="pt-BR" sz="800" b="1" dirty="0"/>
              <a:t>3. Habilitação do Incremento Automático de Frequência</a:t>
            </a:r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b="1" dirty="0"/>
              <a:t>O Comando (</a:t>
            </a:r>
            <a:r>
              <a:rPr lang="pt-BR" sz="800" dirty="0"/>
              <a:t>0x21</a:t>
            </a:r>
            <a:r>
              <a:rPr lang="pt-BR" sz="800" b="1" dirty="0"/>
              <a:t>):</a:t>
            </a:r>
            <a:r>
              <a:rPr lang="pt-BR" sz="800" dirty="0"/>
              <a:t> Configura o chip para permitir que o microcontrolador envie comandos de incremento de frequência (o salto para o próximo passo). Isso deixa o AD5933 pronto para avançar passo a passo (de 250 em 250 Hz) sempre que o código solicitar.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b="1" dirty="0"/>
              <a:t>O Delay (50ms):</a:t>
            </a:r>
            <a:r>
              <a:rPr lang="pt-BR" sz="800" dirty="0"/>
              <a:t> Garante a estabilização final do registrador antes que a função retorne.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pt-BR" sz="800" dirty="0"/>
          </a:p>
          <a:p>
            <a:r>
              <a:rPr lang="pt-BR" sz="800" b="1" dirty="0"/>
              <a:t>4. Retorno de Sucesso</a:t>
            </a:r>
            <a:endParaRPr lang="pt-BR" sz="800" dirty="0"/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pt-BR" sz="800" kern="0" dirty="0">
              <a:solidFill>
                <a:srgbClr val="1F1F1F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Informa ao restante do programa que toda a sequência de inicialização do hardware foi enviada com sucesso e a varredura está oficialmente rodando. </a:t>
            </a:r>
          </a:p>
          <a:p>
            <a:r>
              <a:rPr lang="pt-BR" sz="800" b="1" dirty="0"/>
              <a:t>Resumo do Fluxo no seu Código</a:t>
            </a:r>
            <a:endParaRPr lang="pt-BR" sz="800" dirty="0"/>
          </a:p>
          <a:p>
            <a:r>
              <a:rPr lang="pt-BR" sz="800" dirty="0"/>
              <a:t>Tanto na calibração quanto no loop de medição real, você verá estas duas funções trabalhando em dupla: </a:t>
            </a:r>
          </a:p>
          <a:p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r>
              <a:rPr lang="pt-BR" sz="800" dirty="0"/>
              <a:t>Após a execução do startSweep(), o AD5933 já está calculando os valores da primeira frequência. O microcontrolador precisa apenas chamar a função waitValid() para aguardar o término desse cálculo e ler os dados brutos. </a:t>
            </a:r>
            <a:endParaRPr lang="pt-BR" sz="800" kern="0" dirty="0">
              <a:solidFill>
                <a:srgbClr val="1F1F1F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A25C819-7C9A-8212-56E7-4DA84FFA1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3" y="1084244"/>
            <a:ext cx="1057910" cy="95694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9082EEC-577B-05EC-E825-84C631204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9453" y="1761860"/>
            <a:ext cx="1050925" cy="21336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0209AC8-E007-7159-0720-C431CC70D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9453" y="2623834"/>
            <a:ext cx="1014730" cy="20637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57108A0-AF51-5C1F-BDFA-C66146039B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9453" y="3429000"/>
            <a:ext cx="1033145" cy="24828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B9DE022-C2BD-8446-DA53-0713C361EA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9453" y="4451021"/>
            <a:ext cx="629285" cy="14224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C6E5C71D-8656-2333-9A7A-38E15C23D9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9453" y="5080739"/>
            <a:ext cx="2196465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3956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E1BD7-391F-6BA7-23B7-C0A727044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98E45A-79BD-BEBE-86F3-8E2E1772D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51" y="135808"/>
            <a:ext cx="10515600" cy="487531"/>
          </a:xfrm>
        </p:spPr>
        <p:txBody>
          <a:bodyPr>
            <a:noAutofit/>
          </a:bodyPr>
          <a:lstStyle/>
          <a:p>
            <a:r>
              <a:rPr lang="pt-B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Função calibrateSweep</a:t>
            </a:r>
            <a:r>
              <a:rPr lang="pt-BR" dirty="0"/>
              <a:t>  </a:t>
            </a:r>
            <a:endParaRPr lang="pt-BR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F72B0DE-45CE-DC69-49DD-D67DE269A334}"/>
              </a:ext>
            </a:extLst>
          </p:cNvPr>
          <p:cNvSpPr txBox="1"/>
          <p:nvPr/>
        </p:nvSpPr>
        <p:spPr>
          <a:xfrm>
            <a:off x="2655359" y="899358"/>
            <a:ext cx="9116703" cy="538403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800" dirty="0"/>
              <a:t>A função </a:t>
            </a:r>
            <a:r>
              <a:rPr lang="pt-BR" sz="800" b="1" dirty="0"/>
              <a:t>calibrateSweep</a:t>
            </a:r>
            <a:r>
              <a:rPr lang="pt-BR" sz="800" dirty="0"/>
              <a:t>() serve para </a:t>
            </a:r>
            <a:r>
              <a:rPr lang="pt-BR" sz="800" b="1" dirty="0"/>
              <a:t>realizar a calibração de todo o espectro de frequências da varredura utilizando um resistor físico de referência conhecido (</a:t>
            </a:r>
            <a:r>
              <a:rPr lang="pt-BR" sz="800" dirty="0"/>
              <a:t>R_CAL</a:t>
            </a:r>
            <a:r>
              <a:rPr lang="pt-BR" sz="800" b="1" dirty="0"/>
              <a:t>)</a:t>
            </a:r>
            <a:r>
              <a:rPr lang="pt-BR" sz="800" dirty="0"/>
              <a:t>.</a:t>
            </a:r>
          </a:p>
          <a:p>
            <a:r>
              <a:rPr lang="pt-BR" sz="800" dirty="0"/>
              <a:t>O chip AD5933 não mede a impedância diretamente em Ohms ($\Omega$); ele mede a resposta de corrente e tensão através de uma Transformada Discreta de Fourier (DFT), gerando números brutos (Real e Imaginário). Para converter esses números brutos em Ohms e graus de fase reais em medições futuras, o sistema precisa desta função para calcular dois fatores de correção para cada frequência: o </a:t>
            </a:r>
            <a:r>
              <a:rPr lang="pt-BR" sz="800" b="1" dirty="0"/>
              <a:t>Fator de Ganho (Gain Factor)</a:t>
            </a:r>
            <a:r>
              <a:rPr lang="pt-BR" sz="800" dirty="0"/>
              <a:t> e o </a:t>
            </a:r>
            <a:r>
              <a:rPr lang="pt-BR" sz="800" b="1" dirty="0"/>
              <a:t>Deslocamento de Fase (Phase Offset)</a:t>
            </a:r>
            <a:r>
              <a:rPr lang="pt-BR" sz="800" dirty="0"/>
              <a:t>. </a:t>
            </a:r>
          </a:p>
          <a:p>
            <a:r>
              <a:rPr lang="pt-BR" sz="800" b="1" dirty="0"/>
              <a:t>1. Inicialização da Varredura</a:t>
            </a:r>
            <a:endParaRPr lang="pt-BR" sz="800" dirty="0"/>
          </a:p>
          <a:p>
            <a:endParaRPr lang="pt-BR" sz="800" dirty="0"/>
          </a:p>
          <a:p>
            <a:endParaRPr lang="pt-BR" sz="800" b="1" dirty="0"/>
          </a:p>
          <a:p>
            <a:endParaRPr lang="pt-BR" sz="800" dirty="0"/>
          </a:p>
          <a:p>
            <a:r>
              <a:rPr lang="pt-BR" sz="800" b="1" dirty="0"/>
              <a:t>2. O Laço de Calibração Ponto a Ponto</a:t>
            </a:r>
          </a:p>
          <a:p>
            <a:r>
              <a:rPr lang="pt-BR" sz="800" dirty="0"/>
              <a:t>Este laço percorre todos os passos da varredura (de 0 até 360). Para cada frequência, o chip executará as etapas abaixo: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b="1" dirty="0"/>
              <a:t>Espera e Validação:</a:t>
            </a:r>
            <a:endParaRPr lang="pt-BR" sz="800" dirty="0"/>
          </a:p>
          <a:p>
            <a:endParaRPr lang="pt-BR" sz="800" dirty="0"/>
          </a:p>
          <a:p>
            <a:r>
              <a:rPr lang="pt-BR" sz="800" dirty="0"/>
              <a:t>        Chama a função que espera até 5 segundos para que o chip informe que os dados DFT da frequência atual estão prontos. Se falhar ou estourar o tempo, a calibração inteira é cancelada retornando false.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b="1" dirty="0"/>
              <a:t>Leitura dos Dados Brutos e Cálculo da Magnitude:</a:t>
            </a:r>
          </a:p>
          <a:p>
            <a:pPr lvl="0"/>
            <a:endParaRPr lang="pt-BR" sz="800" b="1" dirty="0"/>
          </a:p>
          <a:p>
            <a:pPr lvl="0"/>
            <a:endParaRPr lang="pt-BR" sz="800" dirty="0"/>
          </a:p>
          <a:p>
            <a:endParaRPr lang="pt-BR" sz="800" b="1" dirty="0"/>
          </a:p>
          <a:p>
            <a:r>
              <a:rPr lang="pt-BR" sz="800" b="1" dirty="0"/>
              <a:t>3. O Cálculo de Calibração (A Matemática do Chip)</a:t>
            </a:r>
            <a:endParaRPr lang="pt-BR" sz="800" dirty="0"/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pt-BR" sz="800" kern="0" dirty="0">
              <a:solidFill>
                <a:srgbClr val="1F1F1F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r>
              <a:rPr lang="pt-BR" sz="800" b="1" dirty="0"/>
              <a:t>4. Incremento de Frequência no Hardware</a:t>
            </a:r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r>
              <a:rPr lang="pt-BR" sz="800" dirty="0"/>
              <a:t> </a:t>
            </a:r>
          </a:p>
          <a:p>
            <a:r>
              <a:rPr lang="pt-BR" sz="800" b="1" dirty="0"/>
              <a:t>5. Finalização</a:t>
            </a:r>
            <a:endParaRPr lang="pt-BR" sz="800" dirty="0"/>
          </a:p>
          <a:p>
            <a:r>
              <a:rPr lang="pt-BR" sz="800" dirty="0"/>
              <a:t>Se o laço terminar todos os pontos sem erros, a tabela inteira na memória RAM estará preenchida com os fatores de correção exatos para cada frequência, e a função retorna true.</a:t>
            </a:r>
          </a:p>
          <a:p>
            <a:r>
              <a:rPr lang="pt-BR" sz="800" b="1" dirty="0"/>
              <a:t>Resumo Visual da Lógica:</a:t>
            </a:r>
            <a:endParaRPr lang="pt-BR" sz="800" dirty="0"/>
          </a:p>
          <a:p>
            <a:pPr lvl="0"/>
            <a:r>
              <a:rPr lang="pt-BR" sz="800" dirty="0"/>
              <a:t>Aplica o sinal na frequência X sobre o resistor conhecido R_CAL.</a:t>
            </a:r>
          </a:p>
          <a:p>
            <a:pPr lvl="0"/>
            <a:r>
              <a:rPr lang="pt-BR" sz="800" dirty="0"/>
              <a:t>Mede a resposta elétrica bruta do chip.</a:t>
            </a:r>
          </a:p>
          <a:p>
            <a:pPr lvl="0"/>
            <a:r>
              <a:rPr lang="pt-BR" sz="800" dirty="0"/>
              <a:t>Calcula o fator de ganho e erro de fase para a frequência X.</a:t>
            </a:r>
          </a:p>
          <a:p>
            <a:pPr lvl="0"/>
            <a:r>
              <a:rPr lang="pt-BR" sz="800" dirty="0"/>
              <a:t>Manda o chip pular para a frequência X + 250Hz.</a:t>
            </a:r>
          </a:p>
          <a:p>
            <a:pPr lvl="0"/>
            <a:r>
              <a:rPr lang="pt-BR" sz="800" dirty="0"/>
              <a:t>Repete tudo até chegar ao fim (frequência final).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174BD9F-8BC5-CC4F-25F4-CC5845A13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1" y="899358"/>
            <a:ext cx="2553586" cy="258551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E071513-C43B-379C-3DE4-11DE8088D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167" y="1574520"/>
            <a:ext cx="1086993" cy="29909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3852565-55AC-5969-5E58-2EE4C8FC6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4966" y="1921134"/>
            <a:ext cx="2089785" cy="11493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68BAAE7-0672-4440-BBA0-9E566267AB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6191" y="2277450"/>
            <a:ext cx="1454150" cy="13144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84CD6B2-4E2F-1A85-A58A-A1E5E486E3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2628" y="2820057"/>
            <a:ext cx="2172970" cy="259715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B80FCA8B-5C52-A6D5-ADCC-653C9D449A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5735" y="3375644"/>
            <a:ext cx="2228850" cy="192405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9BFE6022-61EA-231F-8497-74B6872A5C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3167" y="4514491"/>
            <a:ext cx="922401" cy="608688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33FCE931-C276-B6A5-437D-5120AE6DBD31}"/>
              </a:ext>
            </a:extLst>
          </p:cNvPr>
          <p:cNvSpPr txBox="1"/>
          <p:nvPr/>
        </p:nvSpPr>
        <p:spPr>
          <a:xfrm>
            <a:off x="4036339" y="1574520"/>
            <a:ext cx="7519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/>
              <a:t>A função reinicia o gerador interno do chip, inicia a varredura na frequência inicial (10.000 Hz) e cria uma variável (currentFreq) para acompanhar qual é a frequência exata que está sendo calibrada a cada passo. 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63C1C3AB-999D-E535-E08A-CBC358AC333D}"/>
                  </a:ext>
                </a:extLst>
              </p:cNvPr>
              <p:cNvSpPr txBox="1"/>
              <p:nvPr/>
            </p:nvSpPr>
            <p:spPr>
              <a:xfrm>
                <a:off x="5208946" y="2767316"/>
                <a:ext cx="6346936" cy="364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800" dirty="0"/>
                  <a:t> Lê os componentes Real e Imaginário do chip para o resistor de calibração. Em seguida, calcula a </a:t>
                </a:r>
                <a:r>
                  <a:rPr lang="pt-BR" sz="800" b="1" dirty="0"/>
                  <a:t>Magnitude</a:t>
                </a:r>
                <a:r>
                  <a:rPr lang="pt-BR" sz="800" dirty="0"/>
                  <a:t> (o comprimento do vetor) usando o Teorema de Pitágoras(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pt-BR" sz="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pt-BR" sz="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800" i="1">
                                <a:latin typeface="Cambria Math" panose="02040503050406030204" pitchFamily="18" charset="0"/>
                              </a:rPr>
                              <m:t>𝑅𝑒𝑎𝑙</m:t>
                            </m:r>
                          </m:e>
                          <m:sup>
                            <m:r>
                              <a:rPr lang="pt-BR" sz="8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sz="80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pt-BR" sz="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800" i="1">
                                <a:latin typeface="Cambria Math" panose="02040503050406030204" pitchFamily="18" charset="0"/>
                              </a:rPr>
                              <m:t>𝐼𝑚𝑎𝑔𝑖𝑛</m:t>
                            </m:r>
                            <m:r>
                              <a:rPr lang="pt-BR" sz="800" i="1">
                                <a:latin typeface="Cambria Math" panose="02040503050406030204" pitchFamily="18" charset="0"/>
                              </a:rPr>
                              <m:t>á</m:t>
                            </m:r>
                            <m:r>
                              <a:rPr lang="pt-BR" sz="800" i="1">
                                <a:latin typeface="Cambria Math" panose="02040503050406030204" pitchFamily="18" charset="0"/>
                              </a:rPr>
                              <m:t>𝑟𝑖𝑜</m:t>
                            </m:r>
                          </m:e>
                          <m:sup>
                            <m:r>
                              <a:rPr lang="pt-BR" sz="8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pt-BR" sz="800" dirty="0"/>
                  <a:t>). Se a magnitude for zero (erro elétrico), a função aborta.</a:t>
                </a:r>
              </a:p>
            </p:txBody>
          </p:sp>
        </mc:Choice>
        <mc:Fallback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63C1C3AB-999D-E535-E08A-CBC358AC3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8946" y="2767316"/>
                <a:ext cx="6346936" cy="364523"/>
              </a:xfrm>
              <a:prstGeom prst="rect">
                <a:avLst/>
              </a:prstGeom>
              <a:blipFill>
                <a:blip r:embed="rId9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CA298F85-6D1F-AFE2-A225-4110021AA4BA}"/>
                  </a:ext>
                </a:extLst>
              </p:cNvPr>
              <p:cNvSpPr txBox="1"/>
              <p:nvPr/>
            </p:nvSpPr>
            <p:spPr>
              <a:xfrm>
                <a:off x="4962017" y="3283336"/>
                <a:ext cx="6578491" cy="9880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800" dirty="0"/>
                  <a:t>Aqui está o coração da calibração: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pt-BR" sz="800" dirty="0"/>
                  <a:t>gainFactorTable[i]: O Fator de Ganho é calculado pela fórmula oficial do datasheet : </a:t>
                </a:r>
                <a14:m>
                  <m:oMath xmlns:m="http://schemas.openxmlformats.org/officeDocument/2006/math">
                    <m:r>
                      <a:rPr lang="pt-BR" sz="800" i="1">
                        <a:latin typeface="Cambria Math" panose="02040503050406030204" pitchFamily="18" charset="0"/>
                      </a:rPr>
                      <m:t>𝐺𝐹</m:t>
                    </m:r>
                    <m:r>
                      <a:rPr lang="pt-BR" sz="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800"/>
                          <m:t>Admit</m:t>
                        </m:r>
                        <m:r>
                          <m:rPr>
                            <m:nor/>
                          </m:rPr>
                          <a:rPr lang="pt-BR" sz="800"/>
                          <m:t>â</m:t>
                        </m:r>
                        <m:r>
                          <m:rPr>
                            <m:nor/>
                          </m:rPr>
                          <a:rPr lang="pt-BR" sz="800"/>
                          <m:t>ncia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800"/>
                          <m:t>Magnitude</m:t>
                        </m:r>
                      </m:den>
                    </m:f>
                    <m:r>
                      <a:rPr lang="pt-BR" sz="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800" i="1">
                            <a:latin typeface="Cambria Math" panose="02040503050406030204" pitchFamily="18" charset="0"/>
                          </a:rPr>
                          <m:t>1/</m:t>
                        </m:r>
                        <m:sSub>
                          <m:sSubPr>
                            <m:ctrlPr>
                              <a:rPr lang="pt-BR" sz="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sz="800" i="1">
                                <a:latin typeface="Cambria Math" panose="02040503050406030204" pitchFamily="18" charset="0"/>
                              </a:rPr>
                              <m:t>𝑐𝑎𝑙</m:t>
                            </m:r>
                          </m:sub>
                        </m:sSub>
                      </m:num>
                      <m:den>
                        <m:r>
                          <a:rPr lang="pt-BR" sz="800" i="1">
                            <a:latin typeface="Cambria Math" panose="02040503050406030204" pitchFamily="18" charset="0"/>
                          </a:rPr>
                          <m:t>𝑀𝑎𝑔𝑛𝑖𝑡𝑢𝑑𝑒</m:t>
                        </m:r>
                      </m:den>
                    </m:f>
                  </m:oMath>
                </a14:m>
                <a:r>
                  <a:rPr lang="pt-BR" sz="800" dirty="0"/>
                  <a:t>.  </a:t>
                </a:r>
              </a:p>
              <a:p>
                <a:r>
                  <a:rPr lang="pt-BR" sz="800" dirty="0"/>
                  <a:t>Esse fator será usado no futuro para descobrir qualquer impedância desconhecida (</a:t>
                </a:r>
                <a14:m>
                  <m:oMath xmlns:m="http://schemas.openxmlformats.org/officeDocument/2006/math">
                    <m:r>
                      <a:rPr lang="pt-BR" sz="80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pt-BR" sz="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800" i="1">
                            <a:latin typeface="Cambria Math" panose="02040503050406030204" pitchFamily="18" charset="0"/>
                          </a:rPr>
                          <m:t>𝐺𝐹</m:t>
                        </m:r>
                        <m:r>
                          <a:rPr lang="pt-BR" sz="8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pt-BR" sz="800" i="1">
                            <a:latin typeface="Cambria Math" panose="02040503050406030204" pitchFamily="18" charset="0"/>
                          </a:rPr>
                          <m:t>𝑀𝑎𝑔𝑛𝑖𝑡𝑢𝑑𝑒</m:t>
                        </m:r>
                      </m:den>
                    </m:f>
                  </m:oMath>
                </a14:m>
                <a:r>
                  <a:rPr lang="pt-BR" sz="800" dirty="0"/>
                  <a:t>)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pt-BR" sz="800" dirty="0"/>
                  <a:t>phaseOffsetTableDeg[i]: Calcula o erro de fase intrínseco do próprio circuito integrado e dos cabos. Usando a função arco-tangente (atan2), ela descobre o ângulo gerado pelo resistor e converte de radianos para graus. Como um resistor puro tem fase teórica de  0º, qualquer ângulo medido aqui é um erro de atraso do circuito que precisará ser subtraído nas medições reais.</a:t>
                </a:r>
              </a:p>
            </p:txBody>
          </p:sp>
        </mc:Choice>
        <mc:Fallback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CA298F85-6D1F-AFE2-A225-4110021AA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017" y="3283336"/>
                <a:ext cx="6578491" cy="988091"/>
              </a:xfrm>
              <a:prstGeom prst="rect">
                <a:avLst/>
              </a:prstGeom>
              <a:blipFill>
                <a:blip r:embed="rId10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aixaDeTexto 19">
            <a:extLst>
              <a:ext uri="{FF2B5EF4-FFF2-40B4-BE49-F238E27FC236}">
                <a16:creationId xmlns:a16="http://schemas.microsoft.com/office/drawing/2014/main" id="{7EB3B7B1-D62D-D791-9061-0124145F3862}"/>
              </a:ext>
            </a:extLst>
          </p:cNvPr>
          <p:cNvSpPr txBox="1"/>
          <p:nvPr/>
        </p:nvSpPr>
        <p:spPr>
          <a:xfrm>
            <a:off x="4850892" y="4429634"/>
            <a:ext cx="67049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writeReg(0x80, 0x31) : Envia o comando </a:t>
            </a:r>
            <a:r>
              <a:rPr lang="pt-BR" sz="800" b="1" dirty="0"/>
              <a:t>Increment Frequency</a:t>
            </a:r>
            <a:r>
              <a:rPr lang="pt-BR" sz="800" dirty="0"/>
              <a:t> para o AD5933. O chip calcula internamente a próxima frequência (ex: saltando de 10.000 Hz para 10.250 Hz) e muda o sinal físico da sua saída.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delay(2): Dá um tempo curtíssimo (2 ms) exigido para o hardware mudar de frequência e estabilizar o sinal.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currentFreq += freqIncr : Atualiza a variável local de controle para a próxima frequência humana correspondente.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writeReg(0x80, 0xB1) : Se o laço chegou ao último ponto (else), envia o comando de finalização da varredura (ou reinicialização de controle).</a:t>
            </a:r>
          </a:p>
        </p:txBody>
      </p:sp>
    </p:spTree>
    <p:extLst>
      <p:ext uri="{BB962C8B-B14F-4D97-AF65-F5344CB8AC3E}">
        <p14:creationId xmlns:p14="http://schemas.microsoft.com/office/powerpoint/2010/main" val="1393355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A63CD-6A09-EF76-9712-6689ECBE0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DBE666-0FA2-889A-2F93-657ED6D0A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48" y="207099"/>
            <a:ext cx="10515600" cy="487531"/>
          </a:xfrm>
        </p:spPr>
        <p:txBody>
          <a:bodyPr>
            <a:noAutofit/>
          </a:bodyPr>
          <a:lstStyle/>
          <a:p>
            <a:r>
              <a:rPr lang="pt-B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Função setup</a:t>
            </a:r>
            <a:r>
              <a:rPr lang="pt-BR" dirty="0"/>
              <a:t>  </a:t>
            </a:r>
            <a:endParaRPr lang="pt-BR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F3FE6DF-4D02-1D35-20AF-7C286F8E10DE}"/>
              </a:ext>
            </a:extLst>
          </p:cNvPr>
          <p:cNvSpPr txBox="1"/>
          <p:nvPr/>
        </p:nvSpPr>
        <p:spPr>
          <a:xfrm>
            <a:off x="2569329" y="982561"/>
            <a:ext cx="9116703" cy="538403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800" dirty="0"/>
              <a:t>A função setup() é a rotina de inicialização do seu firmware. No ecossistema Arduino/ESP32, ela roda </a:t>
            </a:r>
            <a:r>
              <a:rPr lang="pt-BR" sz="800" b="1" dirty="0"/>
              <a:t>apenas uma vez</a:t>
            </a:r>
            <a:r>
              <a:rPr lang="pt-BR" sz="800" dirty="0"/>
              <a:t> assim que a placa é ligada ou resetada.</a:t>
            </a:r>
          </a:p>
          <a:p>
            <a:r>
              <a:rPr lang="pt-BR" sz="800" dirty="0"/>
              <a:t>A função dela aqui é preparar todo o cenário: ligar as comunicações, testar se o chip AD5933 está vivo, configurar os parâmetros matemáticos da varredura, definir tempos de estabilização do sinal elétrico e gerenciar a calibração do sistema antes de liberar o programa para o loop de medição contínua.</a:t>
            </a:r>
          </a:p>
          <a:p>
            <a:r>
              <a:rPr lang="pt-BR" sz="800" b="1" dirty="0"/>
              <a:t>1. Inicialização do Monitor Serial e do Barramento I2C</a:t>
            </a:r>
            <a:endParaRPr lang="pt-BR" sz="800" dirty="0"/>
          </a:p>
          <a:p>
            <a:endParaRPr lang="pt-BR" sz="800" dirty="0"/>
          </a:p>
          <a:p>
            <a:endParaRPr lang="pt-BR" sz="800" b="1" dirty="0"/>
          </a:p>
          <a:p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pt-BR" sz="800" dirty="0"/>
          </a:p>
          <a:p>
            <a:r>
              <a:rPr lang="pt-BR" sz="800" b="1" dirty="0"/>
              <a:t>2. Inicialização dos Buffers de Média Móvel</a:t>
            </a:r>
            <a:endParaRPr lang="pt-BR" sz="800" dirty="0"/>
          </a:p>
          <a:p>
            <a:endParaRPr lang="pt-BR" sz="800" b="1" dirty="0"/>
          </a:p>
          <a:p>
            <a:endParaRPr lang="pt-BR" sz="800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Chama a função que limpa a memória RAM e zera a matriz histórica onde serão guardadas as últimas 5 leituras de cada frequência para remover os ruídos. 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pt-BR" sz="800" dirty="0"/>
          </a:p>
          <a:p>
            <a:r>
              <a:rPr lang="pt-BR" sz="800" b="1" dirty="0"/>
              <a:t>3. Configuração dos Parâmetros do Sweep (Varredura)</a:t>
            </a:r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dirty="0"/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pt-BR" sz="800" kern="0" dirty="0">
              <a:solidFill>
                <a:srgbClr val="1F1F1F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pt-BR" sz="800" b="1" dirty="0"/>
          </a:p>
          <a:p>
            <a:r>
              <a:rPr lang="pt-BR" sz="800" b="1" dirty="0"/>
              <a:t>4. Configuração dos Ciclos de Estabilização (Settling Cycles)</a:t>
            </a:r>
            <a:endParaRPr lang="pt-BR" sz="800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pt-BR" sz="800" dirty="0"/>
          </a:p>
          <a:p>
            <a:endParaRPr lang="pt-BR" sz="800" b="1" dirty="0"/>
          </a:p>
          <a:p>
            <a:r>
              <a:rPr lang="pt-BR" sz="800" b="1" dirty="0"/>
              <a:t>5. Gerenciamento Inteligente de Calibração</a:t>
            </a:r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r>
              <a:rPr lang="pt-BR" sz="800" b="1" dirty="0"/>
              <a:t>6. Cabeçalho dos Dados de Saída</a:t>
            </a:r>
            <a:endParaRPr lang="pt-BR" sz="800" dirty="0"/>
          </a:p>
          <a:p>
            <a:endParaRPr lang="pt-BR" sz="800" b="1" dirty="0"/>
          </a:p>
          <a:p>
            <a:endParaRPr lang="pt-BR" sz="800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Imprime no terminal uma linha de texto com o título das colunas separado por vírgulas. Isso serve para formatar a saída como um arquivo </a:t>
            </a:r>
            <a:r>
              <a:rPr lang="pt-BR" sz="800" b="1" dirty="0"/>
              <a:t>CSV</a:t>
            </a:r>
            <a:r>
              <a:rPr lang="pt-BR" sz="800" dirty="0"/>
              <a:t>. Quando o loop() começar a cuspir os dados numéricos de impedância, você poderá facilmente copiar tudo, colar no Excel ou MATLAB, e gerar gráficos automaticamente.</a:t>
            </a:r>
          </a:p>
          <a:p>
            <a:r>
              <a:rPr lang="pt-BR" sz="800" dirty="0"/>
              <a:t>Terminado o setup(), o processador avança imediatamente para o loop(), onde começará a coletar e tratar os dados continuamente.</a:t>
            </a:r>
            <a:endParaRPr lang="pt-BR" sz="800" b="1" dirty="0"/>
          </a:p>
          <a:p>
            <a:endParaRPr lang="pt-BR" sz="8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32A0C12-BA32-93F5-FF18-9D013FD72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48" y="982561"/>
            <a:ext cx="2395837" cy="230831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BDD8A33-2809-4B61-C614-044CF8A09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239" y="1525817"/>
            <a:ext cx="768985" cy="56226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CDC67FC-E27B-0BAF-C481-0EDBF7765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1729" y="2387288"/>
            <a:ext cx="1268095" cy="14351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EE24BC2-0857-E9AC-698F-1D1C596CF9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1729" y="2992063"/>
            <a:ext cx="1622425" cy="43434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FAF9C187-721B-660F-1C4D-7C1B02AFE7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1729" y="3855408"/>
            <a:ext cx="1738630" cy="30670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0B2A97B7-85C6-4FA4-7F02-6D912F4B46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82239" y="4585783"/>
            <a:ext cx="1465269" cy="746400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A76AF3C9-A415-85DB-826E-AF87CF2C0F8E}"/>
              </a:ext>
            </a:extLst>
          </p:cNvPr>
          <p:cNvSpPr txBox="1"/>
          <p:nvPr/>
        </p:nvSpPr>
        <p:spPr>
          <a:xfrm>
            <a:off x="3451224" y="1503311"/>
            <a:ext cx="8083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Serial.begin(115200): Liga a comunicação de dados com o computador a uma velocidade de 115200 bits por segundo para podermos ver as mensagens e dados. O delay(2000) dá 2 segundos para o canal de dados se estabilizar após o boot.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resetI2C()</a:t>
            </a:r>
            <a:r>
              <a:rPr lang="pt-BR" sz="800" b="1" dirty="0"/>
              <a:t> e </a:t>
            </a:r>
            <a:r>
              <a:rPr lang="pt-BR" sz="800" dirty="0"/>
              <a:t>testAD5933(): Limpa e reconfigura o barramento I2C (nos pinos 21 e 22) e faz um "ping" no AD5933. Se o chip não responder (por mau contato ou falta de energia), o código entra em um laço infinito (while(1)), travando ali para evitar que o resto do programa tente rodar sem hardware.</a:t>
            </a:r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8EF217A-DDBD-5422-BC8B-8204D785BFB5}"/>
              </a:ext>
            </a:extLst>
          </p:cNvPr>
          <p:cNvSpPr txBox="1"/>
          <p:nvPr/>
        </p:nvSpPr>
        <p:spPr>
          <a:xfrm>
            <a:off x="4341638" y="2896767"/>
            <a:ext cx="72526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/>
              <a:t>Aqui o código programa a "geometria" da varredura diretamente nos registradores do AD5933: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b="1" dirty="0"/>
              <a:t>Frequência Inicial (</a:t>
            </a:r>
            <a:r>
              <a:rPr lang="pt-BR" sz="800" dirty="0"/>
              <a:t>0x82</a:t>
            </a:r>
            <a:r>
              <a:rPr lang="pt-BR" sz="800" b="1" dirty="0"/>
              <a:t> a </a:t>
            </a:r>
            <a:r>
              <a:rPr lang="pt-BR" sz="800" dirty="0"/>
              <a:t>0x84</a:t>
            </a:r>
            <a:r>
              <a:rPr lang="pt-BR" sz="800" b="1" dirty="0"/>
              <a:t>)</a:t>
            </a:r>
            <a:r>
              <a:rPr lang="pt-BR" sz="800" dirty="0"/>
              <a:t>: Configura para começar em 10.000 Hz (startFreq).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b="1" dirty="0"/>
              <a:t>Incremento de Frequência (</a:t>
            </a:r>
            <a:r>
              <a:rPr lang="pt-BR" sz="800" dirty="0"/>
              <a:t>0x85</a:t>
            </a:r>
            <a:r>
              <a:rPr lang="pt-BR" sz="800" b="1" dirty="0"/>
              <a:t> a </a:t>
            </a:r>
            <a:r>
              <a:rPr lang="pt-BR" sz="800" dirty="0"/>
              <a:t>0x87</a:t>
            </a:r>
            <a:r>
              <a:rPr lang="pt-BR" sz="800" b="1" dirty="0"/>
              <a:t>)</a:t>
            </a:r>
            <a:r>
              <a:rPr lang="pt-BR" sz="800" dirty="0"/>
              <a:t>: Configura os passos para saltar de 250 em 250 Hz (freqIncr).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b="1" dirty="0"/>
              <a:t>Número de Incrementos (</a:t>
            </a:r>
            <a:r>
              <a:rPr lang="pt-BR" sz="800" dirty="0"/>
              <a:t>0x88</a:t>
            </a:r>
            <a:r>
              <a:rPr lang="pt-BR" sz="800" b="1" dirty="0"/>
              <a:t> e </a:t>
            </a:r>
            <a:r>
              <a:rPr lang="pt-BR" sz="800" dirty="0"/>
              <a:t>0x89</a:t>
            </a:r>
            <a:r>
              <a:rPr lang="pt-BR" sz="800" b="1" dirty="0"/>
              <a:t>)</a:t>
            </a:r>
            <a:r>
              <a:rPr lang="pt-BR" sz="800" dirty="0"/>
              <a:t>: Define que a varredura fará 360 saltos (numIncr). Como o registrador tem 16 bits, o código divide o número em duas partes (byte alto e byte baixo) para enviar.</a:t>
            </a:r>
            <a:endParaRPr lang="pt-BR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09B9168-AC6D-773A-9C22-54B035015F19}"/>
              </a:ext>
            </a:extLst>
          </p:cNvPr>
          <p:cNvSpPr txBox="1"/>
          <p:nvPr/>
        </p:nvSpPr>
        <p:spPr>
          <a:xfrm>
            <a:off x="4355591" y="3851222"/>
            <a:ext cx="70840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Este bloco configura os registradores 0x8A e 0x8B para dizer ao chip: </a:t>
            </a:r>
            <a:r>
              <a:rPr lang="pt-BR" sz="800" i="1" dirty="0"/>
              <a:t>"Toda vez que você mudar de frequência, espere a onda senoidal completar </a:t>
            </a:r>
            <a:r>
              <a:rPr lang="pt-BR" sz="800" b="1" i="1" dirty="0"/>
              <a:t>15 ciclos inteiros</a:t>
            </a:r>
            <a:r>
              <a:rPr lang="pt-BR" sz="800" i="1" dirty="0"/>
              <a:t> antes de fazer a amostragem DFT"</a:t>
            </a:r>
            <a:r>
              <a:rPr lang="pt-BR" sz="800" dirty="0"/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Isso é crucial na eletrônica analógica porque quando a frequência muda, o circuito sofre transientes elétricos. Esperar 15 ciclos garante que o sinal elétrico se estabilize na carga e que a leitura seja precisa.</a:t>
            </a:r>
            <a:endParaRPr lang="pt-BR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9FFCBC5-0B0C-9043-8EF5-FE2946AA13D3}"/>
              </a:ext>
            </a:extLst>
          </p:cNvPr>
          <p:cNvSpPr txBox="1"/>
          <p:nvPr/>
        </p:nvSpPr>
        <p:spPr>
          <a:xfrm>
            <a:off x="4341638" y="4559282"/>
            <a:ext cx="7330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/>
              <a:t>Este bloco poupa tempo e protege o sistema através de uma lógica condicional: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Ele tenta carregar do chip de memória não-volátil os fatores de ganho e fase salvos anteriormente (loadCalibration).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Se a calibração carregada </a:t>
            </a:r>
            <a:r>
              <a:rPr lang="pt-BR" sz="800" b="1" dirty="0"/>
              <a:t>não for válida</a:t>
            </a:r>
            <a:r>
              <a:rPr lang="pt-BR" sz="800" dirty="0"/>
              <a:t> (se for a primeira vez que a placa liga na vida ou se os dados sumiram), ele entra na condição.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Exibe uma mensagem avisando, executa a rotina física de calibração ponto a ponto (calibrateSweep) e, se tudo der certo, salva esses novos dados permanentemente na memória Flash (saveCalibration).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Se o sistema </a:t>
            </a:r>
            <a:r>
              <a:rPr lang="pt-BR" sz="800" i="1" dirty="0"/>
              <a:t>já possuía</a:t>
            </a:r>
            <a:r>
              <a:rPr lang="pt-BR" sz="800" dirty="0"/>
              <a:t> uma calibração válida na memória, ele simplesmente ignora todo esse bloco e economiza vários segundos de inicialização.</a:t>
            </a:r>
            <a:endParaRPr lang="pt-BR" dirty="0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5E917447-D44F-E747-2C95-F8BF129967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1729" y="5578752"/>
            <a:ext cx="3387725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807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67740-1A61-7DF3-EFD7-B037FD02C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A64FB-4944-2199-4BE1-6613D3288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48" y="207099"/>
            <a:ext cx="10515600" cy="487531"/>
          </a:xfrm>
        </p:spPr>
        <p:txBody>
          <a:bodyPr>
            <a:noAutofit/>
          </a:bodyPr>
          <a:lstStyle/>
          <a:p>
            <a:r>
              <a:rPr lang="pt-B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Função loop</a:t>
            </a:r>
            <a:r>
              <a:rPr lang="pt-BR" dirty="0"/>
              <a:t>  </a:t>
            </a:r>
            <a:endParaRPr lang="pt-BR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6FC06C5-9693-B309-80FF-62F79D7548DF}"/>
              </a:ext>
            </a:extLst>
          </p:cNvPr>
          <p:cNvSpPr txBox="1"/>
          <p:nvPr/>
        </p:nvSpPr>
        <p:spPr>
          <a:xfrm>
            <a:off x="2569329" y="982561"/>
            <a:ext cx="9116703" cy="513986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800" dirty="0"/>
              <a:t>A função </a:t>
            </a:r>
            <a:r>
              <a:rPr lang="pt-BR" sz="800" b="1" dirty="0"/>
              <a:t>loop()</a:t>
            </a:r>
            <a:r>
              <a:rPr lang="pt-BR" sz="800" dirty="0"/>
              <a:t> é o </a:t>
            </a:r>
            <a:r>
              <a:rPr lang="pt-BR" sz="800" b="1" dirty="0"/>
              <a:t>núcleo operacional contínuo do seu código</a:t>
            </a:r>
            <a:r>
              <a:rPr lang="pt-BR" sz="800" dirty="0"/>
              <a:t>. No ecossistema Arduino/ESP32, após a execução do setup(), o microcontrolador executa o loop() repetidamente e indefinidamente.</a:t>
            </a:r>
          </a:p>
          <a:p>
            <a:r>
              <a:rPr lang="pt-BR" sz="800" dirty="0"/>
              <a:t>A principal função deste bloco é </a:t>
            </a:r>
            <a:r>
              <a:rPr lang="pt-BR" sz="800" b="1" dirty="0"/>
              <a:t>coordenar varreduras (sweeps) contínuas de frequência para medir a impedância desconhecida de um circuito ou tecido (bioimpedância)</a:t>
            </a:r>
            <a:r>
              <a:rPr lang="pt-BR" sz="800" dirty="0"/>
              <a:t>, processar esses dados brutos matematicamente, aplicar um filtro de média móvel para estabilizar leituras ruidosas e imprimir os resultados formatados no Monitor Serial.</a:t>
            </a:r>
          </a:p>
          <a:p>
            <a:r>
              <a:rPr lang="pt-BR" sz="800" dirty="0"/>
              <a:t>Abaixo está o detalhamento de como a função opera por seções lógicas:</a:t>
            </a:r>
          </a:p>
          <a:p>
            <a:r>
              <a:rPr lang="pt-BR" sz="800" b="1" dirty="0"/>
              <a:t>1. Verificação de Segurança (Guarda de Calibração)</a:t>
            </a:r>
            <a:endParaRPr lang="pt-BR" sz="800" dirty="0"/>
          </a:p>
          <a:p>
            <a:endParaRPr lang="pt-BR" sz="800" dirty="0"/>
          </a:p>
          <a:p>
            <a:endParaRPr lang="pt-BR" sz="800" b="1" dirty="0"/>
          </a:p>
          <a:p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pt-BR" sz="800" dirty="0"/>
          </a:p>
          <a:p>
            <a:endParaRPr lang="pt-BR" sz="800" b="1" dirty="0"/>
          </a:p>
          <a:p>
            <a:r>
              <a:rPr lang="pt-BR" sz="800" b="1" dirty="0"/>
              <a:t>2. Preparação e Disparo da Varredura</a:t>
            </a:r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dirty="0"/>
          </a:p>
          <a:p>
            <a:pPr lvl="0"/>
            <a:endParaRPr lang="pt-BR" sz="800" dirty="0"/>
          </a:p>
          <a:p>
            <a:r>
              <a:rPr lang="pt-BR" sz="800" b="1" dirty="0"/>
              <a:t>3. O Laço de Amostragem Ponto a Ponto (Frequência por Frequência)</a:t>
            </a:r>
            <a:endParaRPr lang="pt-BR" sz="800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dirty="0"/>
          </a:p>
          <a:p>
            <a:endParaRPr lang="pt-BR" sz="800" b="1" dirty="0"/>
          </a:p>
          <a:p>
            <a:r>
              <a:rPr lang="pt-BR" sz="800" b="1" dirty="0"/>
              <a:t>4. Aquisição e Cálculo Vetorial da Impedância</a:t>
            </a:r>
            <a:endParaRPr lang="pt-BR" sz="800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pt-BR" sz="8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pt-BR" sz="800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FB73F0B-6693-94DB-3699-4FA7212670FF}"/>
              </a:ext>
            </a:extLst>
          </p:cNvPr>
          <p:cNvSpPr txBox="1"/>
          <p:nvPr/>
        </p:nvSpPr>
        <p:spPr>
          <a:xfrm>
            <a:off x="4773809" y="1698604"/>
            <a:ext cx="6820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/>
              <a:t>Antes de iniciar qualquer medição real, o código verifica se há dados de calibração válidos. Se a calibração for corrompida ou estiver ausente, ele interrompe o fluxo normal, força uma recalibração por meio do método calibrateSweep(), salva os parâmetros corretos na memória Flash e usa o comando return para reiniciar a execução do loop(), impedindo medições errôneas.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4712DFC-2194-8F41-C915-00DB299DA773}"/>
              </a:ext>
            </a:extLst>
          </p:cNvPr>
          <p:cNvSpPr txBox="1"/>
          <p:nvPr/>
        </p:nvSpPr>
        <p:spPr>
          <a:xfrm>
            <a:off x="4112394" y="2645428"/>
            <a:ext cx="74815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/>
              <a:t>O código inicializa variáveis de controle locais para acompanhar a frequência atual, acumular a soma das impedâncias medidas e contar quantas leituras foram bem-sucedidas. Em seguida, limpa o registrador interno do AD5933 com resetSweep() e inicia os sinais de onda senoidal a partir da frequência inicial de 10 kHz através do startSweep().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59147C4-1202-2D12-F21F-9BB894158359}"/>
              </a:ext>
            </a:extLst>
          </p:cNvPr>
          <p:cNvSpPr txBox="1"/>
          <p:nvPr/>
        </p:nvSpPr>
        <p:spPr>
          <a:xfrm>
            <a:off x="5216659" y="3613367"/>
            <a:ext cx="6301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/>
              <a:t>O loop for avança por todos os 360 passos de incremento de frequência da varredura. Para cada ponto de frequência: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O sistema chama waitValid(2000) para aguardar até 2 segundos que o motor DFT interno termine o cálculo complexo. Se o hardware travar, o laço de varredura é abortado prematuramente via break.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19E6B09-FBD0-BB22-23A4-DB5499A600FE}"/>
              </a:ext>
            </a:extLst>
          </p:cNvPr>
          <p:cNvSpPr txBox="1"/>
          <p:nvPr/>
        </p:nvSpPr>
        <p:spPr>
          <a:xfrm>
            <a:off x="5292486" y="4193686"/>
            <a:ext cx="63014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/>
              <a:t>Assim que os dados do ponto atual tornam-se válidos, o programa extrai os componentes brutos </a:t>
            </a:r>
            <a:r>
              <a:rPr lang="pt-BR" sz="800" b="1" dirty="0"/>
              <a:t>Real</a:t>
            </a:r>
            <a:r>
              <a:rPr lang="pt-BR" sz="800" dirty="0"/>
              <a:t> e </a:t>
            </a:r>
            <a:r>
              <a:rPr lang="pt-BR" sz="800" b="1" dirty="0"/>
              <a:t>Imaginário</a:t>
            </a:r>
            <a:r>
              <a:rPr lang="pt-BR" sz="800" dirty="0"/>
              <a:t> calculados pelo AD5933 e determina a </a:t>
            </a:r>
            <a:r>
              <a:rPr lang="pt-BR" sz="800" b="1" dirty="0"/>
              <a:t>Magnitude</a:t>
            </a:r>
            <a:r>
              <a:rPr lang="pt-BR" sz="800" dirty="0"/>
              <a:t> espectral via Teorema de Pitágoras.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A1AD17D-10A7-98E0-1969-2D2F8610A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22" y="982561"/>
            <a:ext cx="2440053" cy="415298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700E1F8-8054-2C54-43DB-457A8A40F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729" y="1704266"/>
            <a:ext cx="2019999" cy="69533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573F6DE-0041-6ECC-1CA5-52397BBEDD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1729" y="2702020"/>
            <a:ext cx="1358265" cy="69088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88E87ED-44E3-FB3F-6F43-61CB6C14E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1729" y="3618828"/>
            <a:ext cx="2462530" cy="26416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5F3A583-B62D-3576-F644-CED2E45352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1729" y="4193686"/>
            <a:ext cx="2364105" cy="74168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36261FF3-DB23-4920-8C3C-9CC173CE52E0}"/>
              </a:ext>
            </a:extLst>
          </p:cNvPr>
          <p:cNvSpPr txBox="1"/>
          <p:nvPr/>
        </p:nvSpPr>
        <p:spPr>
          <a:xfrm>
            <a:off x="2583283" y="5223297"/>
            <a:ext cx="91167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/>
              <a:t>Para entender perfeitamente o funcionamento desse trecho de código, vamos analisar a matemática e a física por trás de cada linha, cruzando diretamente com o que o </a:t>
            </a:r>
            <a:r>
              <a:rPr lang="pt-BR" sz="800" b="1" dirty="0"/>
              <a:t>datasheet do AD5933</a:t>
            </a:r>
            <a:r>
              <a:rPr lang="pt-BR" sz="800" dirty="0"/>
              <a:t> estabelece.</a:t>
            </a:r>
          </a:p>
          <a:p>
            <a:r>
              <a:rPr lang="pt-BR" sz="800" dirty="0"/>
              <a:t>O AD5933 não mede a impedância pronta em Ohms ou a fase em graus. Ele é um analisador de redes que injeta uma tensão senoidal na carga, mede a corrente de resposta através de um ADC (Conversor Analógico-Digital) e processa esses dados usando um motor </a:t>
            </a:r>
            <a:r>
              <a:rPr lang="pt-BR" sz="800" b="1" dirty="0"/>
              <a:t>DFT (Transformada Discreta de Fourier)</a:t>
            </a:r>
            <a:r>
              <a:rPr lang="pt-BR" sz="800" dirty="0"/>
              <a:t> interno. A partir dos dados brutos fornecidos por essa DFT, o seu código reconstrói a impedância complexa.</a:t>
            </a:r>
          </a:p>
        </p:txBody>
      </p:sp>
    </p:spTree>
    <p:extLst>
      <p:ext uri="{BB962C8B-B14F-4D97-AF65-F5344CB8AC3E}">
        <p14:creationId xmlns:p14="http://schemas.microsoft.com/office/powerpoint/2010/main" val="607812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A4987-ADA2-443C-FC2F-ECCEE07DB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6F231-5377-0E50-F44D-CE2B27873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48" y="207100"/>
            <a:ext cx="10515600" cy="348450"/>
          </a:xfrm>
        </p:spPr>
        <p:txBody>
          <a:bodyPr>
            <a:noAutofit/>
          </a:bodyPr>
          <a:lstStyle/>
          <a:p>
            <a:r>
              <a:rPr lang="pt-B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Função loop</a:t>
            </a:r>
            <a:r>
              <a:rPr lang="pt-BR" dirty="0"/>
              <a:t>  </a:t>
            </a:r>
            <a:endParaRPr lang="pt-BR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81488B6-F941-5F49-F108-60232B0088A9}"/>
              </a:ext>
            </a:extLst>
          </p:cNvPr>
          <p:cNvSpPr txBox="1"/>
          <p:nvPr/>
        </p:nvSpPr>
        <p:spPr>
          <a:xfrm>
            <a:off x="2660769" y="680809"/>
            <a:ext cx="9116703" cy="600164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800" b="1" dirty="0"/>
              <a:t>Cálculo da Impedância Absoluta (impedance)</a:t>
            </a:r>
            <a:endParaRPr lang="pt-BR" sz="800" dirty="0"/>
          </a:p>
          <a:p>
            <a:endParaRPr lang="pt-BR" sz="800" dirty="0"/>
          </a:p>
          <a:p>
            <a:endParaRPr lang="pt-BR" sz="800" b="1" dirty="0"/>
          </a:p>
          <a:p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pt-BR" sz="800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r>
              <a:rPr lang="pt-BR" sz="800" b="1" dirty="0"/>
              <a:t>Cálculo da Fase Bruta (phaseRawDeg)</a:t>
            </a:r>
            <a:endParaRPr lang="pt-BR" sz="800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dirty="0"/>
          </a:p>
          <a:p>
            <a:pPr lvl="0"/>
            <a:endParaRPr lang="pt-BR" sz="800" dirty="0"/>
          </a:p>
          <a:p>
            <a:endParaRPr lang="pt-BR" sz="800" b="1" dirty="0"/>
          </a:p>
          <a:p>
            <a:endParaRPr lang="pt-BR" sz="800" b="1" dirty="0"/>
          </a:p>
          <a:p>
            <a:r>
              <a:rPr lang="pt-BR" sz="800" b="1" dirty="0"/>
              <a:t>Correção do Erro Intrínseco de Fase (phaseCorrDeg)</a:t>
            </a:r>
            <a:endParaRPr lang="pt-BR" sz="800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endParaRPr lang="pt-BR" sz="800" b="1" dirty="0"/>
          </a:p>
          <a:p>
            <a:r>
              <a:rPr lang="pt-BR" sz="800" b="1" dirty="0"/>
              <a:t>Conversão para Radianos (phaseCorrRad)</a:t>
            </a:r>
            <a:endParaRPr lang="pt-BR" sz="800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pPr lvl="0"/>
            <a:r>
              <a:rPr lang="pt-BR" sz="800" b="1" dirty="0"/>
              <a:t>Decomposição em Coordenadas Cartesianas (Z_real e Z_imag)</a:t>
            </a:r>
          </a:p>
          <a:p>
            <a:pPr lvl="0"/>
            <a:endParaRPr lang="pt-BR" sz="800" b="1" dirty="0"/>
          </a:p>
          <a:p>
            <a:pPr lvl="0"/>
            <a:endParaRPr lang="pt-BR" sz="800" b="1" dirty="0"/>
          </a:p>
          <a:p>
            <a:pPr lvl="0"/>
            <a:endParaRPr lang="pt-BR" sz="800" b="1" dirty="0"/>
          </a:p>
          <a:p>
            <a:pPr lvl="0"/>
            <a:endParaRPr lang="pt-BR" sz="800" b="1" dirty="0"/>
          </a:p>
          <a:p>
            <a:pPr lvl="0"/>
            <a:endParaRPr lang="pt-BR" sz="800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A9DA6175-8C95-D17C-CB50-F2169699049F}"/>
                  </a:ext>
                </a:extLst>
              </p:cNvPr>
              <p:cNvSpPr txBox="1"/>
              <p:nvPr/>
            </p:nvSpPr>
            <p:spPr>
              <a:xfrm>
                <a:off x="4865249" y="848984"/>
                <a:ext cx="6820142" cy="13265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pt-BR" sz="800" b="1" dirty="0"/>
                  <a:t>O que o datasheet diz:</a:t>
                </a:r>
                <a:r>
                  <a:rPr lang="pt-BR" sz="800" dirty="0"/>
                  <a:t> Na seção </a:t>
                </a:r>
                <a:r>
                  <a:rPr lang="pt-BR" sz="800" i="1" dirty="0"/>
                  <a:t>"Gain Factor Calibration"</a:t>
                </a:r>
                <a:r>
                  <a:rPr lang="pt-BR" sz="800" dirty="0"/>
                  <a:t>, o datasheet explica que a magnitude calculada a partir dos dados brutos do chip (magRaw) não está em Ohms. Ela é apenas um número digital proporcional à corrente. Para transformar esse número em uma impedância real, introduz-se o </a:t>
                </a:r>
                <a:r>
                  <a:rPr lang="pt-BR" sz="800" b="1" dirty="0"/>
                  <a:t>Fator de Ganho</a:t>
                </a:r>
                <a:r>
                  <a:rPr lang="pt-BR" sz="800" dirty="0"/>
                  <a:t> (</a:t>
                </a:r>
                <a:r>
                  <a:rPr lang="pt-BR" sz="800" i="1" dirty="0"/>
                  <a:t>Gain Factor</a:t>
                </a:r>
                <a:r>
                  <a:rPr lang="pt-BR" sz="800" dirty="0"/>
                  <a:t> ou </a:t>
                </a:r>
                <a:r>
                  <a:rPr lang="pt-BR" sz="800" i="1" dirty="0"/>
                  <a:t>GF</a:t>
                </a:r>
                <a:r>
                  <a:rPr lang="pt-BR" sz="800" dirty="0"/>
                  <a:t>).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pt-BR" sz="800" b="1" dirty="0"/>
                  <a:t>A fórmula do datasheet:</a:t>
                </a:r>
                <a:r>
                  <a:rPr lang="pt-BR" sz="800" dirty="0"/>
                  <a:t> A equação oficial para calcular a impedância desconhecida (Z) é: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800" i="1"/>
                        <m:t>𝑍</m:t>
                      </m:r>
                      <m:r>
                        <a:rPr lang="pt-BR" sz="800" i="1"/>
                        <m:t>=</m:t>
                      </m:r>
                      <m:f>
                        <m:fPr>
                          <m:ctrlPr>
                            <a:rPr lang="pt-BR" sz="800" i="1"/>
                          </m:ctrlPr>
                        </m:fPr>
                        <m:num>
                          <m:r>
                            <a:rPr lang="pt-BR" sz="800" i="1"/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BR" sz="800"/>
                            <m:t>Magnitude</m:t>
                          </m:r>
                          <m:r>
                            <a:rPr lang="pt-BR" sz="800" i="1"/>
                            <m:t>×</m:t>
                          </m:r>
                          <m:r>
                            <m:rPr>
                              <m:nor/>
                            </m:rPr>
                            <a:rPr lang="pt-BR" sz="800"/>
                            <m:t>Gain</m:t>
                          </m:r>
                          <m:r>
                            <m:rPr>
                              <m:nor/>
                            </m:rPr>
                            <a:rPr lang="pt-BR" sz="800"/>
                            <m:t> </m:t>
                          </m:r>
                          <m:r>
                            <m:rPr>
                              <m:nor/>
                            </m:rPr>
                            <a:rPr lang="pt-BR" sz="800"/>
                            <m:t>Factor</m:t>
                          </m:r>
                        </m:den>
                      </m:f>
                    </m:oMath>
                  </m:oMathPara>
                </a14:m>
                <a:endParaRPr lang="pt-BR" sz="800" dirty="0"/>
              </a:p>
              <a:p>
                <a:r>
                  <a:rPr lang="pt-BR" sz="800" dirty="0"/>
                  <a:t> 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pt-BR" sz="800" b="1" dirty="0"/>
                  <a:t>No seu código:</a:t>
                </a:r>
                <a:r>
                  <a:rPr lang="pt-BR" sz="800" dirty="0"/>
                  <a:t> A linha faz exatamente essa divisão. Ela pega a magnitude instantânea (magRaw), multiplica pelo fator de ganho calibrado especificamente para aquela frequência (gainFactorTable[i]) e divide 1.0 pelo resultado. O valor final em impedance é a </a:t>
                </a:r>
                <a:r>
                  <a:rPr lang="pt-BR" sz="800" b="1" dirty="0"/>
                  <a:t>magnitude total da impedância expressa em Ohms  (</a:t>
                </a:r>
                <a14:m>
                  <m:oMath xmlns:m="http://schemas.openxmlformats.org/officeDocument/2006/math">
                    <m:r>
                      <a:rPr lang="pt-BR" sz="800" i="1"/>
                      <m:t>𝛺</m:t>
                    </m:r>
                  </m:oMath>
                </a14:m>
                <a:r>
                  <a:rPr lang="pt-BR" sz="800" dirty="0"/>
                  <a:t>)</a:t>
                </a:r>
              </a:p>
            </p:txBody>
          </p:sp>
        </mc:Choice>
        <mc:Fallback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A9DA6175-8C95-D17C-CB50-F21696990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249" y="848984"/>
                <a:ext cx="6820142" cy="1326517"/>
              </a:xfrm>
              <a:prstGeom prst="rect">
                <a:avLst/>
              </a:prstGeom>
              <a:blipFill>
                <a:blip r:embed="rId2"/>
                <a:stretch>
                  <a:fillRect b="-4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8855D52F-3300-55BE-75A4-0B09AD5469A2}"/>
                  </a:ext>
                </a:extLst>
              </p:cNvPr>
              <p:cNvSpPr txBox="1"/>
              <p:nvPr/>
            </p:nvSpPr>
            <p:spPr>
              <a:xfrm>
                <a:off x="2753169" y="2343676"/>
                <a:ext cx="8932222" cy="9416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pt-BR" sz="800" b="1" dirty="0"/>
                  <a:t>O que o datasheet diz:</a:t>
                </a:r>
                <a:r>
                  <a:rPr lang="pt-BR" sz="800" dirty="0"/>
                  <a:t> Na seção </a:t>
                </a:r>
                <a:r>
                  <a:rPr lang="pt-BR" sz="800" i="1" dirty="0"/>
                  <a:t>"Phase Measurement"</a:t>
                </a:r>
                <a:r>
                  <a:rPr lang="pt-BR" sz="800" dirty="0"/>
                  <a:t>, a documentação aponta que o motor DFT fornece duas saídas de 16 bits para cada ponto de frequência: um valor </a:t>
                </a:r>
                <a:r>
                  <a:rPr lang="pt-BR" sz="800" b="1" dirty="0"/>
                  <a:t>Real (R)</a:t>
                </a:r>
                <a:r>
                  <a:rPr lang="pt-BR" sz="800" dirty="0"/>
                  <a:t> e um valor </a:t>
                </a:r>
                <a:r>
                  <a:rPr lang="pt-BR" sz="800" b="1" dirty="0"/>
                  <a:t>Imaginário (I)</a:t>
                </a:r>
                <a:r>
                  <a:rPr lang="pt-BR" sz="800" dirty="0"/>
                  <a:t>. O datasheet define que a fase do sinal medido é dada por: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sz="800"/>
                        <m:t>Fase</m:t>
                      </m:r>
                      <m:r>
                        <a:rPr lang="pt-BR" sz="800" i="1"/>
                        <m:t>=</m:t>
                      </m:r>
                      <m:func>
                        <m:funcPr>
                          <m:ctrlPr>
                            <a:rPr lang="pt-BR" sz="800" i="1"/>
                          </m:ctrlPr>
                        </m:funcPr>
                        <m:fName>
                          <m:sSup>
                            <m:sSupPr>
                              <m:ctrlPr>
                                <a:rPr lang="pt-BR" sz="800" i="1"/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pt-BR" sz="800"/>
                                <m:t>tan</m:t>
                              </m:r>
                            </m:e>
                            <m:sup>
                              <m:r>
                                <a:rPr lang="pt-BR" sz="800" i="1"/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pt-BR" sz="800" i="1"/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800" i="1"/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pt-BR" sz="800"/>
                                    <m:t>Imagin</m:t>
                                  </m:r>
                                  <m:r>
                                    <m:rPr>
                                      <m:nor/>
                                    </m:rPr>
                                    <a:rPr lang="pt-BR" sz="800"/>
                                    <m:t>á</m:t>
                                  </m:r>
                                  <m:r>
                                    <m:rPr>
                                      <m:nor/>
                                    </m:rPr>
                                    <a:rPr lang="pt-BR" sz="800"/>
                                    <m:t>rio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pt-BR" sz="800"/>
                                    <m:t>Real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pt-BR" sz="800" dirty="0"/>
              </a:p>
              <a:p>
                <a:r>
                  <a:rPr lang="pt-BR" sz="800" dirty="0"/>
                  <a:t> </a:t>
                </a:r>
              </a:p>
              <a:p>
                <a:pPr lvl="0"/>
                <a:r>
                  <a:rPr lang="pt-BR" sz="800" b="1" dirty="0"/>
                  <a:t>No seu código:</a:t>
                </a:r>
                <a:r>
                  <a:rPr lang="pt-BR" sz="800" dirty="0"/>
                  <a:t> A função atan2(imagAvgRaw, realAvgRaw) do C++ calcula esse arco-tangente de forma inteligente, pois ela avalia os sinais (+ ou -) de ambos os eixos para determinar em qual dos quatro quadrantes do plano complexo o vetor está. Como o resultado padrão do atan2 é em radianos, o código multiplica por 180.0 / PI para convertê-lo em </a:t>
                </a:r>
                <a:r>
                  <a:rPr lang="pt-BR" sz="800" b="1" dirty="0"/>
                  <a:t>Graus (º).</a:t>
                </a:r>
                <a:endParaRPr lang="pt-BR" sz="800" dirty="0"/>
              </a:p>
            </p:txBody>
          </p:sp>
        </mc:Choice>
        <mc:Fallback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8855D52F-3300-55BE-75A4-0B09AD546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169" y="2343676"/>
                <a:ext cx="8932222" cy="941668"/>
              </a:xfrm>
              <a:prstGeom prst="rect">
                <a:avLst/>
              </a:prstGeom>
              <a:blipFill>
                <a:blip r:embed="rId3"/>
                <a:stretch>
                  <a:fillRect b="-6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5718253E-F667-46B6-1113-419FCA4496A4}"/>
                  </a:ext>
                </a:extLst>
              </p:cNvPr>
              <p:cNvSpPr txBox="1"/>
              <p:nvPr/>
            </p:nvSpPr>
            <p:spPr>
              <a:xfrm>
                <a:off x="2646815" y="3579687"/>
                <a:ext cx="903857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800" b="1" dirty="0"/>
                  <a:t>O que o datasheet diz:</a:t>
                </a:r>
                <a:r>
                  <a:rPr lang="pt-BR" sz="800" dirty="0"/>
                  <a:t> Na seção </a:t>
                </a:r>
                <a:r>
                  <a:rPr lang="pt-BR" sz="800" i="1" dirty="0"/>
                  <a:t>"Phase Measurement Calibration"</a:t>
                </a:r>
                <a:r>
                  <a:rPr lang="pt-BR" sz="800" dirty="0"/>
                  <a:t>, o datasheet faz um alerta crucial: o chip e o circuito ao seu redor (filtros analógicos, amplificadores internos e cabos) introduzem atrasos indesejados no sinal. Esse atraso é o </a:t>
                </a:r>
                <a:r>
                  <a:rPr lang="pt-BR" sz="800" b="1" dirty="0"/>
                  <a:t>Erro de Fase Intrínseco do Sistema</a:t>
                </a:r>
                <a:r>
                  <a:rPr lang="pt-BR" sz="8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800" i="1"/>
                        </m:ctrlPr>
                      </m:sSubPr>
                      <m:e>
                        <m:r>
                          <a:rPr lang="pt-BR" sz="800" i="1"/>
                          <m:t>∅</m:t>
                        </m:r>
                      </m:e>
                      <m:sub>
                        <m:r>
                          <a:rPr lang="pt-BR" sz="800" i="1"/>
                          <m:t>𝑆𝑌𝑆𝑇𝐸𝑀</m:t>
                        </m:r>
                      </m:sub>
                    </m:sSub>
                  </m:oMath>
                </a14:m>
                <a:r>
                  <a:rPr lang="pt-BR" sz="800" dirty="0"/>
                  <a:t>). O datasheet deixa claro que </a:t>
                </a:r>
                <a:r>
                  <a:rPr lang="pt-BR" sz="800" b="1" dirty="0"/>
                  <a:t>esse erro muda conforme a frequência varia</a:t>
                </a:r>
                <a:r>
                  <a:rPr lang="pt-BR" sz="800" dirty="0"/>
                  <a:t>, por isso precisamos de uma tabela de correção.</a:t>
                </a:r>
              </a:p>
              <a:p>
                <a:pPr lvl="0"/>
                <a:r>
                  <a:rPr lang="pt-BR" sz="800" b="1" dirty="0"/>
                  <a:t>A fórmula de correção do datasheet:</a:t>
                </a:r>
                <a:r>
                  <a:rPr lang="pt-BR" sz="800" dirty="0"/>
                  <a:t> Para isolar a fase real da carga desconhecida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800" i="1"/>
                        </m:ctrlPr>
                      </m:sSubPr>
                      <m:e>
                        <m:r>
                          <a:rPr lang="pt-BR" sz="800" i="1"/>
                          <m:t>∅</m:t>
                        </m:r>
                      </m:e>
                      <m:sub>
                        <m:r>
                          <a:rPr lang="pt-BR" sz="800" i="1"/>
                          <m:t>𝑈𝑁𝐾𝑁𝑂𝑊𝑁</m:t>
                        </m:r>
                      </m:sub>
                    </m:sSub>
                  </m:oMath>
                </a14:m>
                <a:r>
                  <a:rPr lang="pt-BR" sz="800" dirty="0"/>
                  <a:t> )o datasheet ordena que você subtraia o erro do sistema da fase medida: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800" i="1"/>
                          </m:ctrlPr>
                        </m:sSubPr>
                        <m:e>
                          <m:r>
                            <a:rPr lang="pt-BR" sz="800" i="1"/>
                            <m:t>∅</m:t>
                          </m:r>
                        </m:e>
                        <m:sub>
                          <m:r>
                            <a:rPr lang="pt-BR" sz="800" i="1"/>
                            <m:t>𝑈𝑁𝐾𝑁𝑂𝑊𝑁</m:t>
                          </m:r>
                        </m:sub>
                      </m:sSub>
                      <m:r>
                        <a:rPr lang="pt-BR" sz="800" i="1"/>
                        <m:t>=</m:t>
                      </m:r>
                      <m:sSub>
                        <m:sSubPr>
                          <m:ctrlPr>
                            <a:rPr lang="pt-BR" sz="800" i="1"/>
                          </m:ctrlPr>
                        </m:sSubPr>
                        <m:e>
                          <m:r>
                            <a:rPr lang="pt-BR" sz="800" i="1"/>
                            <m:t>∅</m:t>
                          </m:r>
                        </m:e>
                        <m:sub>
                          <m:r>
                            <a:rPr lang="pt-BR" sz="800" i="1"/>
                            <m:t>𝑀𝐸𝐴𝑆𝑈𝑅𝐸𝐷</m:t>
                          </m:r>
                        </m:sub>
                      </m:sSub>
                      <m:r>
                        <a:rPr lang="pt-BR" sz="800" i="1"/>
                        <m:t>−</m:t>
                      </m:r>
                      <m:sSub>
                        <m:sSubPr>
                          <m:ctrlPr>
                            <a:rPr lang="pt-BR" sz="800" i="1"/>
                          </m:ctrlPr>
                        </m:sSubPr>
                        <m:e>
                          <m:r>
                            <a:rPr lang="pt-BR" sz="800" i="1"/>
                            <m:t>∅</m:t>
                          </m:r>
                        </m:e>
                        <m:sub>
                          <m:r>
                            <a:rPr lang="pt-BR" sz="800" i="1"/>
                            <m:t>𝑆𝑌𝑆𝑇𝐸𝑀</m:t>
                          </m:r>
                        </m:sub>
                      </m:sSub>
                    </m:oMath>
                  </m:oMathPara>
                </a14:m>
                <a:endParaRPr lang="pt-BR" sz="800" dirty="0"/>
              </a:p>
              <a:p>
                <a:r>
                  <a:rPr lang="pt-BR" sz="800" dirty="0"/>
                  <a:t> </a:t>
                </a:r>
              </a:p>
              <a:p>
                <a:pPr lvl="0"/>
                <a:r>
                  <a:rPr lang="pt-BR" sz="800" b="1" dirty="0"/>
                  <a:t>No seu código:</a:t>
                </a:r>
                <a:r>
                  <a:rPr lang="pt-BR" sz="800" dirty="0"/>
                  <a:t> phaseRawDeg é a fase medida com erro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800" i="1"/>
                        </m:ctrlPr>
                      </m:sSubPr>
                      <m:e>
                        <m:r>
                          <a:rPr lang="pt-BR" sz="800" i="1"/>
                          <m:t>∅</m:t>
                        </m:r>
                      </m:e>
                      <m:sub>
                        <m:r>
                          <a:rPr lang="pt-BR" sz="800" i="1"/>
                          <m:t>𝑀𝐸𝐴𝑆𝑈𝑅𝐸𝐷</m:t>
                        </m:r>
                      </m:sub>
                    </m:sSub>
                  </m:oMath>
                </a14:m>
                <a:r>
                  <a:rPr lang="pt-BR" sz="800" dirty="0"/>
                  <a:t>). phaseOffsetTableDeg[i] é o erro do circuito salvo na calibração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800" i="1"/>
                        </m:ctrlPr>
                      </m:sSubPr>
                      <m:e>
                        <m:r>
                          <a:rPr lang="pt-BR" sz="800" i="1"/>
                          <m:t>∅</m:t>
                        </m:r>
                      </m:e>
                      <m:sub>
                        <m:r>
                          <a:rPr lang="pt-BR" sz="800" i="1"/>
                          <m:t>𝑆𝑌𝑆𝑇𝐸𝑀</m:t>
                        </m:r>
                      </m:sub>
                    </m:sSub>
                  </m:oMath>
                </a14:m>
                <a:r>
                  <a:rPr lang="pt-BR" sz="800" dirty="0"/>
                  <a:t>). Ao subtrair um do outro, phaseCorrDeg passa a representar a </a:t>
                </a:r>
                <a:r>
                  <a:rPr lang="pt-BR" sz="800" b="1" dirty="0"/>
                  <a:t>fase real e pura do componente medido em Graus</a:t>
                </a:r>
                <a:r>
                  <a:rPr lang="pt-BR" sz="800" dirty="0"/>
                  <a:t>.</a:t>
                </a:r>
              </a:p>
            </p:txBody>
          </p:sp>
        </mc:Choice>
        <mc:Fallback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5718253E-F667-46B6-1113-419FCA449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6815" y="3579687"/>
                <a:ext cx="9038576" cy="1077218"/>
              </a:xfrm>
              <a:prstGeom prst="rect">
                <a:avLst/>
              </a:prstGeom>
              <a:blipFill>
                <a:blip r:embed="rId4"/>
                <a:stretch>
                  <a:fillRect b="-56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id="{547B851B-2078-D4BC-5E93-D54137AFF7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635" y="680809"/>
            <a:ext cx="2440053" cy="4152987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E17D0AC4-575E-5237-375F-8F7481180C4C}"/>
              </a:ext>
            </a:extLst>
          </p:cNvPr>
          <p:cNvSpPr txBox="1"/>
          <p:nvPr/>
        </p:nvSpPr>
        <p:spPr>
          <a:xfrm>
            <a:off x="2753169" y="5022516"/>
            <a:ext cx="89322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b="1" dirty="0"/>
              <a:t>Explicação:</a:t>
            </a:r>
            <a:r>
              <a:rPr lang="pt-BR" sz="800" dirty="0"/>
              <a:t> Para nós humanos e para exibição em telas, usar Graus (º) é o ideal. No entanto, o processador e as funções matemáticas do microcontrolador (como sin() e cos()) trabalham obrigatoriamente com </a:t>
            </a:r>
            <a:r>
              <a:rPr lang="pt-BR" sz="800" b="1" dirty="0"/>
              <a:t>Radianos</a:t>
            </a:r>
            <a:r>
              <a:rPr lang="pt-BR" sz="800" dirty="0"/>
              <a:t>. Essa linha apenas faz a conversão matemática inversa para preparar o ângulo para os próximos cálculos trigonométricos.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AC4B113-4D9B-F87B-E5F0-AA11219447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3169" y="878037"/>
            <a:ext cx="2124710" cy="12954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35E55AA-FD91-3E82-8BA2-08EF4FAAB2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7879" y="2156233"/>
            <a:ext cx="2747645" cy="11620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195A664-7798-8367-8BE1-9FA653BE7C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4353" y="3421094"/>
            <a:ext cx="2597150" cy="11557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6A2DEF9-FE9D-5FBA-A5B8-8648B5AE98D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6975" y="4833796"/>
            <a:ext cx="2360930" cy="127635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BDC1EAD9-19FA-DC2F-1006-A1FA36DD69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26303" y="5351485"/>
            <a:ext cx="2235200" cy="264795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23C03AB5-0476-5D97-58B4-2C96BCCCFB31}"/>
              </a:ext>
            </a:extLst>
          </p:cNvPr>
          <p:cNvSpPr txBox="1"/>
          <p:nvPr/>
        </p:nvSpPr>
        <p:spPr>
          <a:xfrm>
            <a:off x="2660769" y="5606694"/>
            <a:ext cx="90246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800" b="1" dirty="0"/>
              <a:t>O que o datasheet diz:</a:t>
            </a:r>
            <a:r>
              <a:rPr lang="pt-BR" sz="800" dirty="0"/>
              <a:t> A impedância é uma grandeza complexa (um vetor), composta por uma parte real (Resistência) e uma parte imaginária (Reatância). Embora o datasheet foque muito em ensinar a obter a Magnitude e a Fase, ele lembra que o objetivo final de um analisador de redes como o AD5933 é descrever o vetor de impedância completo no plano complexo.</a:t>
            </a:r>
          </a:p>
          <a:p>
            <a:pPr lvl="0"/>
            <a:r>
              <a:rPr lang="pt-BR" sz="800" b="1" dirty="0"/>
              <a:t>A matemática aplicada:</a:t>
            </a:r>
            <a:r>
              <a:rPr lang="pt-BR" sz="800" dirty="0"/>
              <a:t> Usando trigonometria básica, o código projeta o vetor da impedância total nos dois eixos do plano complexo:</a:t>
            </a:r>
          </a:p>
          <a:p>
            <a:pPr lvl="1"/>
            <a:r>
              <a:rPr lang="pt-BR" sz="800" dirty="0"/>
              <a:t>Z_real</a:t>
            </a:r>
            <a:r>
              <a:rPr lang="pt-BR" sz="800" b="1" dirty="0"/>
              <a:t> (Resistência - R) </a:t>
            </a:r>
            <a:r>
              <a:rPr lang="pt-BR" sz="800" dirty="0"/>
              <a:t>É a projeção no eixo horizontal. Representa a oposição pura à passagem da corrente elétrica que se transforma em calor (Ohms). É calculada multiplicando a hipotenusa (impedance) pelo cosseno do ângulo.</a:t>
            </a:r>
          </a:p>
          <a:p>
            <a:pPr lvl="1"/>
            <a:r>
              <a:rPr lang="pt-BR" sz="800" dirty="0"/>
              <a:t>Z_imag</a:t>
            </a:r>
            <a:r>
              <a:rPr lang="pt-BR" sz="800" b="1" dirty="0"/>
              <a:t> (Reatância - X):</a:t>
            </a:r>
            <a:r>
              <a:rPr lang="pt-BR" sz="800" dirty="0"/>
              <a:t> É a projeção no eixo vertical. Representa a oposição causada por efeitos capacitivos ou indutivos (armazenamento de energia em campos elétricos ou magnéticos). É calculada multiplicando a hipotenusa (impedance) pelo seno do ângulo.</a:t>
            </a:r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C1C90A1-D689-59E9-D75F-1411254A470A}"/>
              </a:ext>
            </a:extLst>
          </p:cNvPr>
          <p:cNvSpPr txBox="1"/>
          <p:nvPr/>
        </p:nvSpPr>
        <p:spPr>
          <a:xfrm>
            <a:off x="145502" y="5103674"/>
            <a:ext cx="2057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Resumo do Bloco</a:t>
            </a:r>
            <a:endParaRPr lang="pt-BR" dirty="0"/>
          </a:p>
          <a:p>
            <a:r>
              <a:rPr lang="pt-BR" sz="800" dirty="0"/>
              <a:t>Essas linhas de código pegam os números digitais "abstratos" gerados pela DFT do AD5933 e, seguindo rigorosamente os passos de calibração, correção e trigonometria descritos no datasheet, os transformam em dados físicos reais: a </a:t>
            </a:r>
            <a:r>
              <a:rPr lang="pt-BR" sz="800" b="1" dirty="0"/>
              <a:t>Impedância total</a:t>
            </a:r>
            <a:r>
              <a:rPr lang="pt-BR" sz="800" dirty="0"/>
              <a:t>, a </a:t>
            </a:r>
            <a:r>
              <a:rPr lang="pt-BR" sz="800" b="1" dirty="0"/>
              <a:t>Fase exata</a:t>
            </a:r>
            <a:r>
              <a:rPr lang="pt-BR" sz="800" dirty="0"/>
              <a:t>, a </a:t>
            </a:r>
            <a:r>
              <a:rPr lang="pt-BR" sz="800" b="1" dirty="0"/>
              <a:t>Resistência pura (</a:t>
            </a:r>
            <a:r>
              <a:rPr lang="pt-BR" sz="800" dirty="0"/>
              <a:t>Z_real</a:t>
            </a:r>
            <a:r>
              <a:rPr lang="pt-BR" sz="800" b="1" dirty="0"/>
              <a:t>)</a:t>
            </a:r>
            <a:r>
              <a:rPr lang="pt-BR" sz="800" dirty="0"/>
              <a:t> e a </a:t>
            </a:r>
            <a:r>
              <a:rPr lang="pt-BR" sz="800" b="1" dirty="0"/>
              <a:t>Reatância pura (</a:t>
            </a:r>
            <a:r>
              <a:rPr lang="pt-BR" sz="800" dirty="0"/>
              <a:t>Z_imag</a:t>
            </a:r>
            <a:r>
              <a:rPr lang="pt-BR" sz="800" b="1" dirty="0"/>
              <a:t>)</a:t>
            </a:r>
            <a:r>
              <a:rPr lang="pt-BR" sz="800" dirty="0"/>
              <a:t> do objeto sob teste.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477596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22726-3EE7-B9C5-1189-C54A5CC54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4404DF-9BAE-8364-C805-86C1228D4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48" y="207099"/>
            <a:ext cx="10515600" cy="487531"/>
          </a:xfrm>
        </p:spPr>
        <p:txBody>
          <a:bodyPr>
            <a:noAutofit/>
          </a:bodyPr>
          <a:lstStyle/>
          <a:p>
            <a:r>
              <a:rPr lang="pt-B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Função loop</a:t>
            </a:r>
            <a:r>
              <a:rPr lang="pt-BR" dirty="0"/>
              <a:t>  </a:t>
            </a:r>
            <a:endParaRPr lang="pt-BR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BF5A672-D84F-4E14-D311-03C8D7BDFD0C}"/>
              </a:ext>
            </a:extLst>
          </p:cNvPr>
          <p:cNvSpPr txBox="1"/>
          <p:nvPr/>
        </p:nvSpPr>
        <p:spPr>
          <a:xfrm>
            <a:off x="2569329" y="982561"/>
            <a:ext cx="9116703" cy="427604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800" b="1" dirty="0"/>
              <a:t>5. </a:t>
            </a:r>
            <a:r>
              <a:rPr lang="pt-BR" sz="800" b="1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Alimentação da Janela e Filtro de Média Móvel (Moving Average)</a:t>
            </a:r>
            <a:endParaRPr lang="pt-BR" sz="800" dirty="0"/>
          </a:p>
          <a:p>
            <a:endParaRPr lang="pt-BR" sz="800" b="1" dirty="0"/>
          </a:p>
          <a:p>
            <a:endParaRPr lang="pt-BR" sz="800" dirty="0"/>
          </a:p>
          <a:p>
            <a:endParaRPr lang="pt-BR" sz="800" dirty="0"/>
          </a:p>
          <a:p>
            <a:endParaRPr lang="pt-BR" sz="8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pt-BR" sz="800" dirty="0"/>
          </a:p>
          <a:p>
            <a:endParaRPr lang="pt-BR" sz="800" b="1" dirty="0"/>
          </a:p>
          <a:p>
            <a:r>
              <a:rPr lang="pt-BR" sz="800" b="1" dirty="0"/>
              <a:t>2. Preparação e Disparo da Varredura</a:t>
            </a:r>
          </a:p>
          <a:p>
            <a:endParaRPr lang="pt-BR" sz="800" b="1" dirty="0"/>
          </a:p>
          <a:p>
            <a:endParaRPr lang="pt-BR" sz="800" b="1" dirty="0"/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800" b="1" dirty="0"/>
              <a:t>6. </a:t>
            </a:r>
            <a:r>
              <a:rPr lang="pt-BR" sz="800" b="1" kern="100" dirty="0"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Transmissão de Dados por Linha (Saída CSV)</a:t>
            </a:r>
            <a:endParaRPr lang="pt-BR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dirty="0"/>
          </a:p>
          <a:p>
            <a:endParaRPr lang="pt-BR" sz="800" b="1" dirty="0"/>
          </a:p>
          <a:p>
            <a:endParaRPr lang="pt-BR" sz="800" b="1" dirty="0"/>
          </a:p>
          <a:p>
            <a:r>
              <a:rPr lang="pt-BR" sz="800" b="1" dirty="0"/>
              <a:t>7. Incremento de Frequência no Hardware</a:t>
            </a:r>
          </a:p>
          <a:p>
            <a:endParaRPr lang="pt-BR" sz="800" b="1" dirty="0"/>
          </a:p>
          <a:p>
            <a:endParaRPr lang="pt-BR" sz="800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pt-BR" sz="8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pt-BR" sz="800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r>
              <a:rPr lang="pt-BR" sz="800" b="1" dirty="0"/>
              <a:t>8. Sumarização do Ciclo Completo</a:t>
            </a:r>
          </a:p>
          <a:p>
            <a:endParaRPr lang="pt-BR" sz="800" b="1" dirty="0"/>
          </a:p>
          <a:p>
            <a:endParaRPr lang="pt-BR" sz="800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b="1" dirty="0"/>
          </a:p>
          <a:p>
            <a:endParaRPr lang="pt-BR" sz="80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FD82D63-1182-D722-81F1-D7C92152222C}"/>
              </a:ext>
            </a:extLst>
          </p:cNvPr>
          <p:cNvSpPr txBox="1"/>
          <p:nvPr/>
        </p:nvSpPr>
        <p:spPr>
          <a:xfrm>
            <a:off x="5407848" y="1179789"/>
            <a:ext cx="61979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/>
              <a:t>O programa armazena esta leitura mais recente em uma estrutura de buffer circular de tamanho 5 (WINDOW_SIZE) dedicada exclusivamente a este índice de frequência (idx).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O ponteiro de escrita avança ciclicamente utilizando o operador módulo (%).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dirty="0"/>
              <a:t>O método calculateMovingAverage extrai a média filtrada das últimas 5 varreduras completas para esta frequência específica, reduzindo flutuações e ruídos elétricos aleatórios de alta frequência.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BA16D09-4BDF-9EA8-9F09-84650250E30D}"/>
              </a:ext>
            </a:extLst>
          </p:cNvPr>
          <p:cNvSpPr txBox="1"/>
          <p:nvPr/>
        </p:nvSpPr>
        <p:spPr>
          <a:xfrm>
            <a:off x="5398586" y="2229529"/>
            <a:ext cx="6089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/>
              <a:t>A função transmite via barramento Serial as variáveis filtradas organizadas por vírgulas (Frequência, Impedância Média, Fase Média, Real Médio, Imaginário Médio e Magnitude Média). O valor de impedância média é adicionado ao somatório global da varredura atual para fins de estatística.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F8A0D48-7DCE-AA00-EB05-E6AC34609FDD}"/>
              </a:ext>
            </a:extLst>
          </p:cNvPr>
          <p:cNvSpPr txBox="1"/>
          <p:nvPr/>
        </p:nvSpPr>
        <p:spPr>
          <a:xfrm>
            <a:off x="5382069" y="3073480"/>
            <a:ext cx="6211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b="1" dirty="0"/>
              <a:t>Se a varredura não terminou:</a:t>
            </a:r>
            <a:r>
              <a:rPr lang="pt-BR" sz="800" dirty="0"/>
              <a:t> O microcontrolador envia o comando 0x31 instruindo o gerador DDS a saltar para a próxima frequência (+250 Hz) e impõe uma pequena pausa física de 2 milissegundos para que os componentes analógicos reajam à variação harmônica.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800" b="1" dirty="0"/>
              <a:t>Se alcançou o fim:</a:t>
            </a:r>
            <a:r>
              <a:rPr lang="pt-BR" sz="800" dirty="0"/>
              <a:t> Envia o comando de término da varredura (0xB1).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C3A38FC-0EAE-B600-0333-A2AFB1D5D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22" y="982561"/>
            <a:ext cx="2440053" cy="415298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6ED7F51-CBF6-3938-B800-3EFD3BBF7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919" y="1179789"/>
            <a:ext cx="2724150" cy="96393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BEF4C19-4495-5538-7501-61B279280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7919" y="2405456"/>
            <a:ext cx="2724150" cy="541122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84E626F8-FACC-2941-6144-EA7E731D8A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7919" y="3234509"/>
            <a:ext cx="1038225" cy="74168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0FE31B7-3AF4-DA7A-16B5-83941A0D7F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7919" y="4318984"/>
            <a:ext cx="2333625" cy="561975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6CF09502-2125-29EA-8B08-2B5ED4EDDF34}"/>
              </a:ext>
            </a:extLst>
          </p:cNvPr>
          <p:cNvSpPr txBox="1"/>
          <p:nvPr/>
        </p:nvSpPr>
        <p:spPr>
          <a:xfrm>
            <a:off x="5448008" y="4230639"/>
            <a:ext cx="60800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/>
              <a:t>Após percorrer todo o espectro (de 10.000 Hz a 100.000 Hz), o programa calcula e exibe uma média geral da impedância ao longo de toda a varredura e o total de pontos amostrados. O laço aguarda 100 milissegundos em repouso e reinicia todo o processo do loop() instantaneamente.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98431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8933</Words>
  <Application>Microsoft Office PowerPoint</Application>
  <PresentationFormat>Widescreen</PresentationFormat>
  <Paragraphs>674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Cambria Math</vt:lpstr>
      <vt:lpstr>Symbol</vt:lpstr>
      <vt:lpstr>Tema do Office</vt:lpstr>
      <vt:lpstr>Contextualização</vt:lpstr>
      <vt:lpstr>Função resetI2C</vt:lpstr>
      <vt:lpstr>Função testAD5933</vt:lpstr>
      <vt:lpstr>Função writeReg</vt:lpstr>
      <vt:lpstr>Função writeReg24</vt:lpstr>
      <vt:lpstr>Função setFrequency</vt:lpstr>
      <vt:lpstr>Função readStatus</vt:lpstr>
      <vt:lpstr>Função readData</vt:lpstr>
      <vt:lpstr>Função waitValid</vt:lpstr>
      <vt:lpstr>Função calculateMovingAverage </vt:lpstr>
      <vt:lpstr>Função initMovingAverageBuffers </vt:lpstr>
      <vt:lpstr>Função loadCalibration </vt:lpstr>
      <vt:lpstr>Função saveCalibration  </vt:lpstr>
      <vt:lpstr>Função hasValidCalibration  </vt:lpstr>
      <vt:lpstr>Função resetSweep  </vt:lpstr>
      <vt:lpstr>Função startSweep  </vt:lpstr>
      <vt:lpstr>Função calibrateSweep  </vt:lpstr>
      <vt:lpstr>Função setup  </vt:lpstr>
      <vt:lpstr>Função loop  </vt:lpstr>
      <vt:lpstr>Função loop  </vt:lpstr>
      <vt:lpstr>Função loop  </vt:lpstr>
    </vt:vector>
  </TitlesOfParts>
  <Company>Sistema Fiergs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Pablo Moraes de Mattos</dc:creator>
  <cp:lastModifiedBy>Pablo Moraes de Mattos</cp:lastModifiedBy>
  <cp:revision>3</cp:revision>
  <dcterms:created xsi:type="dcterms:W3CDTF">2026-05-21T18:14:02Z</dcterms:created>
  <dcterms:modified xsi:type="dcterms:W3CDTF">2026-05-22T13:43:09Z</dcterms:modified>
</cp:coreProperties>
</file>